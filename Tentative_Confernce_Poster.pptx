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7315200" cy="10972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25" d="100"/>
          <a:sy n="125" d="100"/>
        </p:scale>
        <p:origin x="1272" y="-12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13" Type="http://schemas.openxmlformats.org/officeDocument/2006/relationships/image" Target="../media/image12.jpg"/><Relationship Id="rId3" Type="http://schemas.openxmlformats.org/officeDocument/2006/relationships/image" Target="../media/image2.jpg"/><Relationship Id="rId7" Type="http://schemas.openxmlformats.org/officeDocument/2006/relationships/image" Target="../media/image6.jpg"/><Relationship Id="rId12" Type="http://schemas.openxmlformats.org/officeDocument/2006/relationships/image" Target="../media/image11.jpg"/><Relationship Id="rId2" Type="http://schemas.openxmlformats.org/officeDocument/2006/relationships/image" Target="../media/image1.jpg"/><Relationship Id="rId16" Type="http://schemas.openxmlformats.org/officeDocument/2006/relationships/image" Target="../media/image15.svg"/><Relationship Id="rId1" Type="http://schemas.openxmlformats.org/officeDocument/2006/relationships/slideLayout" Target="../slideLayouts/slideLayout7.xml"/><Relationship Id="rId6" Type="http://schemas.openxmlformats.org/officeDocument/2006/relationships/image" Target="../media/image5.jpg"/><Relationship Id="rId11" Type="http://schemas.openxmlformats.org/officeDocument/2006/relationships/image" Target="../media/image10.jpg"/><Relationship Id="rId5" Type="http://schemas.openxmlformats.org/officeDocument/2006/relationships/image" Target="../media/image4.jpg"/><Relationship Id="rId15" Type="http://schemas.openxmlformats.org/officeDocument/2006/relationships/image" Target="../media/image14.png"/><Relationship Id="rId10" Type="http://schemas.openxmlformats.org/officeDocument/2006/relationships/image" Target="../media/image9.jpg"/><Relationship Id="rId4" Type="http://schemas.openxmlformats.org/officeDocument/2006/relationships/image" Target="../media/image3.jpg"/><Relationship Id="rId9" Type="http://schemas.openxmlformats.org/officeDocument/2006/relationships/image" Target="../media/image8.jp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315200" cy="10972800"/>
          </a:xfrm>
          <a:prstGeom prst="rect">
            <a:avLst/>
          </a:prstGeom>
          <a:solidFill>
            <a:srgbClr val="FFF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1764792"/>
          </a:xfrm>
          <a:prstGeom prst="rect">
            <a:avLst/>
          </a:prstGeom>
          <a:solidFill>
            <a:srgbClr val="C2B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isc_logo.jpg"/>
          <p:cNvPicPr>
            <a:picLocks noChangeAspect="1"/>
          </p:cNvPicPr>
          <p:nvPr/>
        </p:nvPicPr>
        <p:blipFill>
          <a:blip r:embed="rId2"/>
          <a:stretch>
            <a:fillRect/>
          </a:stretch>
        </p:blipFill>
        <p:spPr>
          <a:xfrm>
            <a:off x="-2763203" y="-4105656"/>
            <a:ext cx="1188720" cy="1444752"/>
          </a:xfrm>
          <a:prstGeom prst="rect">
            <a:avLst/>
          </a:prstGeom>
        </p:spPr>
      </p:pic>
      <p:sp>
        <p:nvSpPr>
          <p:cNvPr id="5" name="TextBox 4"/>
          <p:cNvSpPr txBox="1"/>
          <p:nvPr/>
        </p:nvSpPr>
        <p:spPr>
          <a:xfrm>
            <a:off x="1417320" y="274561"/>
            <a:ext cx="3703320" cy="895630"/>
          </a:xfrm>
          <a:prstGeom prst="rect">
            <a:avLst/>
          </a:prstGeom>
          <a:noFill/>
        </p:spPr>
        <p:txBody>
          <a:bodyPr wrap="square" lIns="9144" tIns="9144" rIns="9144" bIns="9144" anchor="ctr">
            <a:spAutoFit/>
          </a:bodyPr>
          <a:lstStyle/>
          <a:p>
            <a:pPr algn="ctr">
              <a:spcBef>
                <a:spcPts val="0"/>
              </a:spcBef>
              <a:spcAft>
                <a:spcPts val="0"/>
              </a:spcAft>
            </a:pPr>
            <a:r>
              <a:rPr lang="en-IN" sz="1900" b="1" dirty="0">
                <a:solidFill>
                  <a:srgbClr val="235B5E"/>
                </a:solidFill>
                <a:latin typeface="Arial"/>
              </a:rPr>
              <a:t>International Conference on Quantum Computing and Artificial Intelligence  (QCAI)</a:t>
            </a:r>
            <a:endParaRPr sz="1900" b="1" i="0" dirty="0">
              <a:solidFill>
                <a:srgbClr val="235B5E"/>
              </a:solidFill>
              <a:latin typeface="Arial"/>
            </a:endParaRPr>
          </a:p>
        </p:txBody>
      </p:sp>
      <p:sp>
        <p:nvSpPr>
          <p:cNvPr id="6" name="Rectangle 5"/>
          <p:cNvSpPr/>
          <p:nvPr/>
        </p:nvSpPr>
        <p:spPr>
          <a:xfrm>
            <a:off x="1691640" y="1444752"/>
            <a:ext cx="2926080" cy="13716"/>
          </a:xfrm>
          <a:prstGeom prst="rect">
            <a:avLst/>
          </a:prstGeom>
          <a:solidFill>
            <a:srgbClr val="E6C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17904" y="1548383"/>
            <a:ext cx="3474720" cy="164660"/>
          </a:xfrm>
          <a:prstGeom prst="rect">
            <a:avLst/>
          </a:prstGeom>
          <a:noFill/>
        </p:spPr>
        <p:txBody>
          <a:bodyPr wrap="square" lIns="9144" tIns="9144" rIns="9144" bIns="9144" anchor="t">
            <a:spAutoFit/>
          </a:bodyPr>
          <a:lstStyle/>
          <a:p>
            <a:pPr algn="ctr">
              <a:spcBef>
                <a:spcPts val="0"/>
              </a:spcBef>
              <a:spcAft>
                <a:spcPts val="0"/>
              </a:spcAft>
            </a:pPr>
            <a:r>
              <a:rPr lang="en-IN" sz="950" b="0" i="0" dirty="0">
                <a:solidFill>
                  <a:srgbClr val="FFFFFF"/>
                </a:solidFill>
                <a:latin typeface="Georgia"/>
              </a:rPr>
              <a:t>Jointly Organized by: IIT (ISM) Dhanbad and JNU New Delhi</a:t>
            </a:r>
            <a:endParaRPr sz="950" b="0" i="0" dirty="0">
              <a:solidFill>
                <a:srgbClr val="FFFFFF"/>
              </a:solidFill>
              <a:latin typeface="Georgia"/>
            </a:endParaRPr>
          </a:p>
        </p:txBody>
      </p:sp>
      <p:sp>
        <p:nvSpPr>
          <p:cNvPr id="8" name="Oval 7"/>
          <p:cNvSpPr/>
          <p:nvPr/>
        </p:nvSpPr>
        <p:spPr>
          <a:xfrm>
            <a:off x="5010912" y="0"/>
            <a:ext cx="2231136" cy="1773936"/>
          </a:xfrm>
          <a:prstGeom prst="ellipse">
            <a:avLst/>
          </a:prstGeom>
          <a:solidFill>
            <a:srgbClr val="235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230368" y="334086"/>
            <a:ext cx="1188720" cy="877163"/>
          </a:xfrm>
          <a:prstGeom prst="rect">
            <a:avLst/>
          </a:prstGeom>
          <a:noFill/>
        </p:spPr>
        <p:txBody>
          <a:bodyPr wrap="square" lIns="0" tIns="0" rIns="0" bIns="0" anchor="ctr">
            <a:spAutoFit/>
          </a:bodyPr>
          <a:lstStyle/>
          <a:p>
            <a:pPr algn="ctr">
              <a:spcBef>
                <a:spcPts val="0"/>
              </a:spcBef>
              <a:spcAft>
                <a:spcPts val="0"/>
              </a:spcAft>
            </a:pPr>
            <a:r>
              <a:rPr lang="en-IN" sz="1900" b="1" dirty="0">
                <a:solidFill>
                  <a:srgbClr val="FFFFFF"/>
                </a:solidFill>
                <a:latin typeface="Georgia"/>
              </a:rPr>
              <a:t>12</a:t>
            </a:r>
            <a:r>
              <a:rPr sz="1900" b="1" i="0" dirty="0">
                <a:solidFill>
                  <a:srgbClr val="FFFFFF"/>
                </a:solidFill>
                <a:latin typeface="Georgia"/>
              </a:rPr>
              <a:t>–</a:t>
            </a:r>
            <a:r>
              <a:rPr lang="en-IN" sz="1900" b="1" i="0" dirty="0">
                <a:solidFill>
                  <a:srgbClr val="FFFFFF"/>
                </a:solidFill>
                <a:latin typeface="Georgia"/>
              </a:rPr>
              <a:t>14</a:t>
            </a:r>
            <a:endParaRPr sz="1900" b="1" i="0" dirty="0">
              <a:solidFill>
                <a:srgbClr val="FFFFFF"/>
              </a:solidFill>
              <a:latin typeface="Georgia"/>
            </a:endParaRPr>
          </a:p>
          <a:p>
            <a:pPr algn="ctr">
              <a:spcBef>
                <a:spcPts val="0"/>
              </a:spcBef>
              <a:spcAft>
                <a:spcPts val="0"/>
              </a:spcAft>
            </a:pPr>
            <a:r>
              <a:rPr lang="en-IN" sz="1900" b="1" dirty="0">
                <a:solidFill>
                  <a:srgbClr val="FFFFFF"/>
                </a:solidFill>
                <a:latin typeface="Georgia"/>
              </a:rPr>
              <a:t>March</a:t>
            </a:r>
            <a:endParaRPr sz="1900" b="1" i="0" dirty="0">
              <a:solidFill>
                <a:srgbClr val="FFFFFF"/>
              </a:solidFill>
              <a:latin typeface="Georgia"/>
            </a:endParaRPr>
          </a:p>
          <a:p>
            <a:pPr algn="ctr">
              <a:spcBef>
                <a:spcPts val="0"/>
              </a:spcBef>
              <a:spcAft>
                <a:spcPts val="0"/>
              </a:spcAft>
            </a:pPr>
            <a:r>
              <a:rPr sz="1900" b="1" i="0" dirty="0">
                <a:solidFill>
                  <a:srgbClr val="FFFFFF"/>
                </a:solidFill>
                <a:latin typeface="Georgia"/>
              </a:rPr>
              <a:t>202</a:t>
            </a:r>
            <a:r>
              <a:rPr lang="en-IN" sz="1900" b="1" i="0" dirty="0">
                <a:solidFill>
                  <a:srgbClr val="FFFFFF"/>
                </a:solidFill>
                <a:latin typeface="Georgia"/>
              </a:rPr>
              <a:t>7</a:t>
            </a:r>
            <a:endParaRPr sz="1900" b="1" i="0" dirty="0">
              <a:solidFill>
                <a:srgbClr val="FFFFFF"/>
              </a:solidFill>
              <a:latin typeface="Georgia"/>
            </a:endParaRPr>
          </a:p>
        </p:txBody>
      </p:sp>
      <p:sp>
        <p:nvSpPr>
          <p:cNvPr id="10" name="Rectangle 9"/>
          <p:cNvSpPr/>
          <p:nvPr/>
        </p:nvSpPr>
        <p:spPr>
          <a:xfrm>
            <a:off x="6336792" y="274320"/>
            <a:ext cx="22860" cy="1225296"/>
          </a:xfrm>
          <a:prstGeom prst="rect">
            <a:avLst/>
          </a:prstGeom>
          <a:solidFill>
            <a:srgbClr val="E6C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595806"/>
            <a:ext cx="786384" cy="646331"/>
          </a:xfrm>
          <a:prstGeom prst="rect">
            <a:avLst/>
          </a:prstGeom>
          <a:noFill/>
        </p:spPr>
        <p:txBody>
          <a:bodyPr wrap="square" lIns="0" tIns="0" rIns="0" bIns="0" anchor="ctr">
            <a:spAutoFit/>
          </a:bodyPr>
          <a:lstStyle/>
          <a:p>
            <a:pPr algn="ctr">
              <a:spcBef>
                <a:spcPts val="0"/>
              </a:spcBef>
              <a:spcAft>
                <a:spcPts val="0"/>
              </a:spcAft>
            </a:pPr>
            <a:r>
              <a:rPr sz="1400" b="0" i="0" dirty="0">
                <a:solidFill>
                  <a:srgbClr val="FFFFFF"/>
                </a:solidFill>
                <a:latin typeface="Georgia"/>
              </a:rPr>
              <a:t>Venue</a:t>
            </a:r>
          </a:p>
          <a:p>
            <a:pPr algn="ctr">
              <a:spcBef>
                <a:spcPts val="0"/>
              </a:spcBef>
              <a:spcAft>
                <a:spcPts val="0"/>
              </a:spcAft>
            </a:pPr>
            <a:r>
              <a:rPr lang="en-IN" sz="1400" b="0" i="0" dirty="0">
                <a:solidFill>
                  <a:srgbClr val="FFFFFF"/>
                </a:solidFill>
                <a:latin typeface="Georgia"/>
              </a:rPr>
              <a:t>SC&amp;SS</a:t>
            </a:r>
            <a:endParaRPr sz="1400" b="0" i="0" dirty="0">
              <a:solidFill>
                <a:srgbClr val="FFFFFF"/>
              </a:solidFill>
              <a:latin typeface="Georgia"/>
            </a:endParaRPr>
          </a:p>
          <a:p>
            <a:pPr algn="ctr">
              <a:spcBef>
                <a:spcPts val="0"/>
              </a:spcBef>
              <a:spcAft>
                <a:spcPts val="0"/>
              </a:spcAft>
            </a:pPr>
            <a:r>
              <a:rPr lang="en-IN" sz="1400" b="0" i="0" dirty="0">
                <a:solidFill>
                  <a:srgbClr val="FFFFFF"/>
                </a:solidFill>
                <a:latin typeface="Georgia"/>
              </a:rPr>
              <a:t>JNU</a:t>
            </a:r>
            <a:endParaRPr sz="1400" b="0" i="0" dirty="0">
              <a:solidFill>
                <a:srgbClr val="FFFFFF"/>
              </a:solidFill>
              <a:latin typeface="Georgia"/>
            </a:endParaRPr>
          </a:p>
        </p:txBody>
      </p:sp>
      <p:sp>
        <p:nvSpPr>
          <p:cNvPr id="12" name="Rectangle 11"/>
          <p:cNvSpPr/>
          <p:nvPr/>
        </p:nvSpPr>
        <p:spPr>
          <a:xfrm>
            <a:off x="45720" y="1847088"/>
            <a:ext cx="7223760" cy="429768"/>
          </a:xfrm>
          <a:prstGeom prst="rect">
            <a:avLst/>
          </a:prstGeom>
          <a:solidFill>
            <a:srgbClr val="235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7160" y="1917451"/>
            <a:ext cx="7040880" cy="261610"/>
          </a:xfrm>
          <a:prstGeom prst="rect">
            <a:avLst/>
          </a:prstGeom>
          <a:noFill/>
        </p:spPr>
        <p:txBody>
          <a:bodyPr wrap="square" lIns="0" tIns="0" rIns="0" bIns="0" anchor="ctr">
            <a:spAutoFit/>
          </a:bodyPr>
          <a:lstStyle/>
          <a:p>
            <a:pPr algn="ctr">
              <a:spcBef>
                <a:spcPts val="0"/>
              </a:spcBef>
              <a:spcAft>
                <a:spcPts val="0"/>
              </a:spcAft>
            </a:pPr>
            <a:r>
              <a:rPr sz="1700" b="1" i="0" dirty="0">
                <a:solidFill>
                  <a:srgbClr val="FFFFFF"/>
                </a:solidFill>
                <a:latin typeface="Georgia"/>
              </a:rPr>
              <a:t>About the </a:t>
            </a:r>
            <a:r>
              <a:rPr lang="en-IN" sz="1700" b="1" i="0" dirty="0">
                <a:solidFill>
                  <a:srgbClr val="FFFFFF"/>
                </a:solidFill>
                <a:latin typeface="Georgia"/>
              </a:rPr>
              <a:t>Conference</a:t>
            </a:r>
            <a:endParaRPr sz="1700" b="1" i="0" dirty="0">
              <a:solidFill>
                <a:srgbClr val="FFFFFF"/>
              </a:solidFill>
              <a:latin typeface="Georgia"/>
            </a:endParaRPr>
          </a:p>
        </p:txBody>
      </p:sp>
      <p:sp>
        <p:nvSpPr>
          <p:cNvPr id="14" name="TextBox 13"/>
          <p:cNvSpPr txBox="1"/>
          <p:nvPr/>
        </p:nvSpPr>
        <p:spPr>
          <a:xfrm>
            <a:off x="91440" y="2300746"/>
            <a:ext cx="7132320" cy="2703176"/>
          </a:xfrm>
          <a:prstGeom prst="rect">
            <a:avLst/>
          </a:prstGeom>
          <a:noFill/>
        </p:spPr>
        <p:txBody>
          <a:bodyPr wrap="square" lIns="18288" tIns="18288" rIns="18288" bIns="18288" anchor="t">
            <a:spAutoFit/>
          </a:bodyPr>
          <a:lstStyle/>
          <a:p>
            <a:pPr algn="just">
              <a:spcBef>
                <a:spcPts val="0"/>
              </a:spcBef>
              <a:spcAft>
                <a:spcPts val="0"/>
              </a:spcAft>
            </a:pPr>
            <a:r>
              <a:rPr lang="en-US" sz="1019" b="0" i="0" dirty="0">
                <a:solidFill>
                  <a:srgbClr val="141414"/>
                </a:solidFill>
                <a:latin typeface="Georgia"/>
              </a:rPr>
              <a:t>The conference aims to advance the frontiers of emerging computational technologies by bringing together leading researchers, academicians, industry experts, and students working in the areas of quantum computing, quantum machine learning, artificial intelligence, quantum networking, and quantum-safe security. Through engaging technical sessions, expert talks, and collaborative discussions, participants will explore the transformative potential of quantum technologies and their integration with modern computational and communication paradigms.</a:t>
            </a:r>
          </a:p>
          <a:p>
            <a:pPr algn="just">
              <a:spcBef>
                <a:spcPts val="0"/>
              </a:spcBef>
              <a:spcAft>
                <a:spcPts val="0"/>
              </a:spcAft>
            </a:pPr>
            <a:endParaRPr lang="en-US" sz="1019" b="0" i="0" dirty="0">
              <a:solidFill>
                <a:srgbClr val="141414"/>
              </a:solidFill>
              <a:latin typeface="Georgia"/>
            </a:endParaRPr>
          </a:p>
          <a:p>
            <a:pPr algn="just">
              <a:spcBef>
                <a:spcPts val="0"/>
              </a:spcBef>
              <a:spcAft>
                <a:spcPts val="0"/>
              </a:spcAft>
            </a:pPr>
            <a:r>
              <a:rPr lang="en-US" sz="1019" b="0" i="0" dirty="0">
                <a:solidFill>
                  <a:srgbClr val="141414"/>
                </a:solidFill>
                <a:latin typeface="Georgia"/>
              </a:rPr>
              <a:t>Participants will gain a deeper understanding of the fundamentals and advanced concepts of quantum computing, including quantum algorithms, quantum machine learning, and quantum artificial intelligence. The conference will also address critical challenges and emerging opportunities in quantum networking, quantum communication, quantum error correction, and post-quantum cryptography, providing a comprehensive perspective on the development of secure and scalable quantum technologies. Special emphasis will be placed on interdisciplinary applications of quantum computing and AI in next-generation technologies. The conference will provide a platform for researchers and practitioners to present their latest findings, exchange ideas, identify emerging research directions, and establish meaningful academic and industrial </a:t>
            </a:r>
            <a:r>
              <a:rPr lang="en-US" sz="1019" b="0" i="0">
                <a:solidFill>
                  <a:srgbClr val="141414"/>
                </a:solidFill>
                <a:latin typeface="Georgia"/>
              </a:rPr>
              <a:t>collaborations.</a:t>
            </a:r>
            <a:endParaRPr lang="en-US" sz="1019" b="0" i="0" dirty="0">
              <a:solidFill>
                <a:srgbClr val="141414"/>
              </a:solidFill>
              <a:latin typeface="Georgia"/>
            </a:endParaRPr>
          </a:p>
          <a:p>
            <a:pPr algn="just">
              <a:spcBef>
                <a:spcPts val="0"/>
              </a:spcBef>
              <a:spcAft>
                <a:spcPts val="0"/>
              </a:spcAft>
            </a:pPr>
            <a:r>
              <a:rPr lang="en-US" sz="1019" b="0" i="0" dirty="0">
                <a:solidFill>
                  <a:srgbClr val="141414"/>
                </a:solidFill>
                <a:latin typeface="Georgia"/>
              </a:rPr>
              <a:t>The three-day </a:t>
            </a:r>
            <a:r>
              <a:rPr lang="en-US" sz="1019" b="0" i="0" dirty="0" err="1">
                <a:solidFill>
                  <a:srgbClr val="141414"/>
                </a:solidFill>
                <a:latin typeface="Georgia"/>
              </a:rPr>
              <a:t>programme</a:t>
            </a:r>
            <a:r>
              <a:rPr lang="en-US" sz="1019" b="0" i="0" dirty="0">
                <a:solidFill>
                  <a:srgbClr val="141414"/>
                </a:solidFill>
                <a:latin typeface="Georgia"/>
              </a:rPr>
              <a:t> consists of keynote addresses, expert talks, technical paper presentations, panel discussions, and collaborative forums designed to foster meaningful knowledge exchange and encourage the development of innovative solutions for the quantum-enabled future.</a:t>
            </a:r>
            <a:endParaRPr sz="1019" b="0" i="0" dirty="0">
              <a:solidFill>
                <a:srgbClr val="141414"/>
              </a:solidFill>
              <a:latin typeface="Georgia"/>
            </a:endParaRPr>
          </a:p>
        </p:txBody>
      </p:sp>
      <p:sp>
        <p:nvSpPr>
          <p:cNvPr id="17" name="Rectangle 16"/>
          <p:cNvSpPr/>
          <p:nvPr/>
        </p:nvSpPr>
        <p:spPr>
          <a:xfrm>
            <a:off x="45720" y="5029200"/>
            <a:ext cx="4590288" cy="393192"/>
          </a:xfrm>
          <a:prstGeom prst="rect">
            <a:avLst/>
          </a:prstGeom>
          <a:solidFill>
            <a:srgbClr val="235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 y="5038344"/>
            <a:ext cx="4535424" cy="356616"/>
          </a:xfrm>
          <a:prstGeom prst="rect">
            <a:avLst/>
          </a:prstGeom>
          <a:noFill/>
        </p:spPr>
        <p:txBody>
          <a:bodyPr wrap="square" lIns="0" tIns="0" rIns="0" bIns="0" anchor="ctr">
            <a:spAutoFit/>
          </a:bodyPr>
          <a:lstStyle/>
          <a:p>
            <a:pPr algn="ctr">
              <a:spcBef>
                <a:spcPts val="0"/>
              </a:spcBef>
              <a:spcAft>
                <a:spcPts val="0"/>
              </a:spcAft>
            </a:pPr>
            <a:r>
              <a:rPr sz="1700" b="1" i="0">
                <a:solidFill>
                  <a:srgbClr val="FFFFFF"/>
                </a:solidFill>
                <a:latin typeface="Georgia"/>
              </a:rPr>
              <a:t>Speakers</a:t>
            </a:r>
          </a:p>
        </p:txBody>
      </p:sp>
      <p:sp>
        <p:nvSpPr>
          <p:cNvPr id="19" name="Rectangle 18"/>
          <p:cNvSpPr/>
          <p:nvPr/>
        </p:nvSpPr>
        <p:spPr>
          <a:xfrm>
            <a:off x="4709160" y="5029200"/>
            <a:ext cx="2560320" cy="393192"/>
          </a:xfrm>
          <a:prstGeom prst="rect">
            <a:avLst/>
          </a:prstGeom>
          <a:solidFill>
            <a:srgbClr val="235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36592" y="5038344"/>
            <a:ext cx="2505456" cy="356616"/>
          </a:xfrm>
          <a:prstGeom prst="rect">
            <a:avLst/>
          </a:prstGeom>
          <a:noFill/>
        </p:spPr>
        <p:txBody>
          <a:bodyPr wrap="square" lIns="0" tIns="0" rIns="0" bIns="0" anchor="ctr">
            <a:spAutoFit/>
          </a:bodyPr>
          <a:lstStyle/>
          <a:p>
            <a:pPr algn="ctr">
              <a:spcBef>
                <a:spcPts val="0"/>
              </a:spcBef>
              <a:spcAft>
                <a:spcPts val="0"/>
              </a:spcAft>
            </a:pPr>
            <a:r>
              <a:rPr sz="1700" b="1" i="0">
                <a:solidFill>
                  <a:srgbClr val="FFFFFF"/>
                </a:solidFill>
                <a:latin typeface="Georgia"/>
              </a:rPr>
              <a:t>Highlights</a:t>
            </a:r>
          </a:p>
        </p:txBody>
      </p:sp>
      <p:pic>
        <p:nvPicPr>
          <p:cNvPr id="21" name="Picture 20" descr="speaker_1.jpg"/>
          <p:cNvPicPr>
            <a:picLocks noChangeAspect="1"/>
          </p:cNvPicPr>
          <p:nvPr/>
        </p:nvPicPr>
        <p:blipFill>
          <a:blip r:embed="rId3"/>
          <a:stretch>
            <a:fillRect/>
          </a:stretch>
        </p:blipFill>
        <p:spPr>
          <a:xfrm>
            <a:off x="155448" y="5532120"/>
            <a:ext cx="804672" cy="941832"/>
          </a:xfrm>
          <a:prstGeom prst="rect">
            <a:avLst/>
          </a:prstGeom>
        </p:spPr>
      </p:pic>
      <p:sp>
        <p:nvSpPr>
          <p:cNvPr id="22" name="TextBox 21"/>
          <p:cNvSpPr txBox="1"/>
          <p:nvPr/>
        </p:nvSpPr>
        <p:spPr>
          <a:xfrm>
            <a:off x="45720" y="6473952"/>
            <a:ext cx="1078992" cy="274320"/>
          </a:xfrm>
          <a:prstGeom prst="rect">
            <a:avLst/>
          </a:prstGeom>
          <a:noFill/>
        </p:spPr>
        <p:txBody>
          <a:bodyPr wrap="square" lIns="0" tIns="0" rIns="0" bIns="0" anchor="t">
            <a:spAutoFit/>
          </a:bodyPr>
          <a:lstStyle/>
          <a:p>
            <a:pPr algn="ctr">
              <a:spcBef>
                <a:spcPts val="0"/>
              </a:spcBef>
              <a:spcAft>
                <a:spcPts val="0"/>
              </a:spcAft>
            </a:pPr>
            <a:r>
              <a:rPr sz="869" b="1" i="0" dirty="0" err="1">
                <a:solidFill>
                  <a:srgbClr val="5C5951"/>
                </a:solidFill>
                <a:latin typeface="Georgia"/>
              </a:rPr>
              <a:t>Biswa</a:t>
            </a:r>
            <a:r>
              <a:rPr sz="869" b="1" i="0" dirty="0">
                <a:solidFill>
                  <a:srgbClr val="5C5951"/>
                </a:solidFill>
                <a:latin typeface="Georgia"/>
              </a:rPr>
              <a:t> Nath Datta</a:t>
            </a:r>
          </a:p>
        </p:txBody>
      </p:sp>
      <p:sp>
        <p:nvSpPr>
          <p:cNvPr id="23" name="TextBox 22"/>
          <p:cNvSpPr txBox="1"/>
          <p:nvPr/>
        </p:nvSpPr>
        <p:spPr>
          <a:xfrm>
            <a:off x="45720" y="6729983"/>
            <a:ext cx="1078992" cy="521207"/>
          </a:xfrm>
          <a:prstGeom prst="rect">
            <a:avLst/>
          </a:prstGeom>
          <a:noFill/>
        </p:spPr>
        <p:txBody>
          <a:bodyPr wrap="square" lIns="0" tIns="0" rIns="0" bIns="0" anchor="t">
            <a:spAutoFit/>
          </a:bodyPr>
          <a:lstStyle/>
          <a:p>
            <a:pPr algn="ctr">
              <a:spcBef>
                <a:spcPts val="0"/>
              </a:spcBef>
              <a:spcAft>
                <a:spcPts val="0"/>
              </a:spcAft>
            </a:pPr>
            <a:r>
              <a:rPr sz="840" b="0" i="0">
                <a:solidFill>
                  <a:srgbClr val="5C5951"/>
                </a:solidFill>
                <a:latin typeface="Georgia"/>
              </a:rPr>
              <a:t>Research Professor</a:t>
            </a:r>
          </a:p>
          <a:p>
            <a:pPr algn="ctr">
              <a:spcBef>
                <a:spcPts val="0"/>
              </a:spcBef>
              <a:spcAft>
                <a:spcPts val="0"/>
              </a:spcAft>
            </a:pPr>
            <a:r>
              <a:rPr sz="840" b="0" i="0">
                <a:solidFill>
                  <a:srgbClr val="5C5951"/>
                </a:solidFill>
                <a:latin typeface="Georgia"/>
              </a:rPr>
              <a:t>Northern Illinois</a:t>
            </a:r>
          </a:p>
          <a:p>
            <a:pPr algn="ctr">
              <a:spcBef>
                <a:spcPts val="0"/>
              </a:spcBef>
              <a:spcAft>
                <a:spcPts val="0"/>
              </a:spcAft>
            </a:pPr>
            <a:r>
              <a:rPr sz="840" b="0" i="0">
                <a:solidFill>
                  <a:srgbClr val="5C5951"/>
                </a:solidFill>
                <a:latin typeface="Georgia"/>
              </a:rPr>
              <a:t>University</a:t>
            </a:r>
          </a:p>
        </p:txBody>
      </p:sp>
      <p:pic>
        <p:nvPicPr>
          <p:cNvPr id="24" name="Picture 23" descr="speaker_2.jpg"/>
          <p:cNvPicPr>
            <a:picLocks noChangeAspect="1"/>
          </p:cNvPicPr>
          <p:nvPr/>
        </p:nvPicPr>
        <p:blipFill>
          <a:blip r:embed="rId4"/>
          <a:stretch>
            <a:fillRect/>
          </a:stretch>
        </p:blipFill>
        <p:spPr>
          <a:xfrm>
            <a:off x="1316736" y="5532120"/>
            <a:ext cx="804672" cy="941832"/>
          </a:xfrm>
          <a:prstGeom prst="rect">
            <a:avLst/>
          </a:prstGeom>
        </p:spPr>
      </p:pic>
      <p:sp>
        <p:nvSpPr>
          <p:cNvPr id="25" name="TextBox 24"/>
          <p:cNvSpPr txBox="1"/>
          <p:nvPr/>
        </p:nvSpPr>
        <p:spPr>
          <a:xfrm>
            <a:off x="1207008" y="6473952"/>
            <a:ext cx="1078992" cy="274320"/>
          </a:xfrm>
          <a:prstGeom prst="rect">
            <a:avLst/>
          </a:prstGeom>
          <a:noFill/>
        </p:spPr>
        <p:txBody>
          <a:bodyPr wrap="square" lIns="0" tIns="0" rIns="0" bIns="0" anchor="t">
            <a:spAutoFit/>
          </a:bodyPr>
          <a:lstStyle/>
          <a:p>
            <a:pPr algn="ctr">
              <a:spcBef>
                <a:spcPts val="0"/>
              </a:spcBef>
              <a:spcAft>
                <a:spcPts val="0"/>
              </a:spcAft>
            </a:pPr>
            <a:r>
              <a:rPr sz="869" b="1" i="0">
                <a:solidFill>
                  <a:srgbClr val="5C5951"/>
                </a:solidFill>
                <a:latin typeface="Georgia"/>
              </a:rPr>
              <a:t>Bhupendra Singh</a:t>
            </a:r>
          </a:p>
        </p:txBody>
      </p:sp>
      <p:sp>
        <p:nvSpPr>
          <p:cNvPr id="26" name="TextBox 25"/>
          <p:cNvSpPr txBox="1"/>
          <p:nvPr/>
        </p:nvSpPr>
        <p:spPr>
          <a:xfrm>
            <a:off x="1207008" y="6729983"/>
            <a:ext cx="1078992" cy="521207"/>
          </a:xfrm>
          <a:prstGeom prst="rect">
            <a:avLst/>
          </a:prstGeom>
          <a:noFill/>
        </p:spPr>
        <p:txBody>
          <a:bodyPr wrap="square" lIns="0" tIns="0" rIns="0" bIns="0" anchor="t">
            <a:spAutoFit/>
          </a:bodyPr>
          <a:lstStyle/>
          <a:p>
            <a:pPr algn="ctr">
              <a:spcBef>
                <a:spcPts val="0"/>
              </a:spcBef>
              <a:spcAft>
                <a:spcPts val="0"/>
              </a:spcAft>
            </a:pPr>
            <a:r>
              <a:rPr sz="840" b="0" i="0" dirty="0">
                <a:solidFill>
                  <a:srgbClr val="5C5951"/>
                </a:solidFill>
                <a:latin typeface="Georgia"/>
              </a:rPr>
              <a:t>Scientist at DRDO</a:t>
            </a:r>
          </a:p>
          <a:p>
            <a:pPr algn="ctr">
              <a:spcBef>
                <a:spcPts val="0"/>
              </a:spcBef>
              <a:spcAft>
                <a:spcPts val="0"/>
              </a:spcAft>
            </a:pPr>
            <a:r>
              <a:rPr sz="840" b="0" i="0" dirty="0">
                <a:solidFill>
                  <a:srgbClr val="5C5951"/>
                </a:solidFill>
                <a:latin typeface="Georgia"/>
              </a:rPr>
              <a:t>Bengaluru</a:t>
            </a:r>
          </a:p>
        </p:txBody>
      </p:sp>
      <p:pic>
        <p:nvPicPr>
          <p:cNvPr id="27" name="Picture 26" descr="speaker_3.jpg"/>
          <p:cNvPicPr>
            <a:picLocks noChangeAspect="1"/>
          </p:cNvPicPr>
          <p:nvPr/>
        </p:nvPicPr>
        <p:blipFill>
          <a:blip r:embed="rId5"/>
          <a:stretch>
            <a:fillRect/>
          </a:stretch>
        </p:blipFill>
        <p:spPr>
          <a:xfrm>
            <a:off x="2468880" y="5532120"/>
            <a:ext cx="804672" cy="941832"/>
          </a:xfrm>
          <a:prstGeom prst="rect">
            <a:avLst/>
          </a:prstGeom>
        </p:spPr>
      </p:pic>
      <p:sp>
        <p:nvSpPr>
          <p:cNvPr id="28" name="TextBox 27"/>
          <p:cNvSpPr txBox="1"/>
          <p:nvPr/>
        </p:nvSpPr>
        <p:spPr>
          <a:xfrm>
            <a:off x="2359152" y="6473952"/>
            <a:ext cx="1078992" cy="274320"/>
          </a:xfrm>
          <a:prstGeom prst="rect">
            <a:avLst/>
          </a:prstGeom>
          <a:noFill/>
        </p:spPr>
        <p:txBody>
          <a:bodyPr wrap="square" lIns="0" tIns="0" rIns="0" bIns="0" anchor="t">
            <a:spAutoFit/>
          </a:bodyPr>
          <a:lstStyle/>
          <a:p>
            <a:pPr algn="ctr">
              <a:spcBef>
                <a:spcPts val="0"/>
              </a:spcBef>
              <a:spcAft>
                <a:spcPts val="0"/>
              </a:spcAft>
            </a:pPr>
            <a:r>
              <a:rPr sz="869" b="1" i="0">
                <a:solidFill>
                  <a:srgbClr val="5C5951"/>
                </a:solidFill>
                <a:latin typeface="Georgia"/>
              </a:rPr>
              <a:t>Vaanathi Sundaresan</a:t>
            </a:r>
          </a:p>
        </p:txBody>
      </p:sp>
      <p:sp>
        <p:nvSpPr>
          <p:cNvPr id="29" name="TextBox 28"/>
          <p:cNvSpPr txBox="1"/>
          <p:nvPr/>
        </p:nvSpPr>
        <p:spPr>
          <a:xfrm>
            <a:off x="2359152" y="6729983"/>
            <a:ext cx="1078992" cy="521207"/>
          </a:xfrm>
          <a:prstGeom prst="rect">
            <a:avLst/>
          </a:prstGeom>
          <a:noFill/>
        </p:spPr>
        <p:txBody>
          <a:bodyPr wrap="square" lIns="0" tIns="0" rIns="0" bIns="0" anchor="t">
            <a:spAutoFit/>
          </a:bodyPr>
          <a:lstStyle/>
          <a:p>
            <a:pPr algn="ctr">
              <a:spcBef>
                <a:spcPts val="0"/>
              </a:spcBef>
              <a:spcAft>
                <a:spcPts val="0"/>
              </a:spcAft>
            </a:pPr>
            <a:r>
              <a:rPr sz="840" b="0" i="0" dirty="0">
                <a:solidFill>
                  <a:srgbClr val="5C5951"/>
                </a:solidFill>
                <a:latin typeface="Georgia"/>
              </a:rPr>
              <a:t>Assistant Professor</a:t>
            </a:r>
          </a:p>
          <a:p>
            <a:pPr algn="ctr">
              <a:spcBef>
                <a:spcPts val="0"/>
              </a:spcBef>
              <a:spcAft>
                <a:spcPts val="0"/>
              </a:spcAft>
            </a:pPr>
            <a:r>
              <a:rPr sz="840" b="0" i="0" dirty="0">
                <a:solidFill>
                  <a:srgbClr val="5C5951"/>
                </a:solidFill>
                <a:latin typeface="Georgia"/>
              </a:rPr>
              <a:t>IISc Bangalore</a:t>
            </a:r>
          </a:p>
        </p:txBody>
      </p:sp>
      <p:pic>
        <p:nvPicPr>
          <p:cNvPr id="30" name="Picture 29" descr="speaker_4.jpg"/>
          <p:cNvPicPr>
            <a:picLocks noChangeAspect="1"/>
          </p:cNvPicPr>
          <p:nvPr/>
        </p:nvPicPr>
        <p:blipFill>
          <a:blip r:embed="rId6"/>
          <a:stretch>
            <a:fillRect/>
          </a:stretch>
        </p:blipFill>
        <p:spPr>
          <a:xfrm>
            <a:off x="3639312" y="5532120"/>
            <a:ext cx="804672" cy="941832"/>
          </a:xfrm>
          <a:prstGeom prst="rect">
            <a:avLst/>
          </a:prstGeom>
        </p:spPr>
      </p:pic>
      <p:sp>
        <p:nvSpPr>
          <p:cNvPr id="31" name="TextBox 30"/>
          <p:cNvSpPr txBox="1"/>
          <p:nvPr/>
        </p:nvSpPr>
        <p:spPr>
          <a:xfrm>
            <a:off x="3529584" y="6473952"/>
            <a:ext cx="1078992" cy="274320"/>
          </a:xfrm>
          <a:prstGeom prst="rect">
            <a:avLst/>
          </a:prstGeom>
          <a:noFill/>
        </p:spPr>
        <p:txBody>
          <a:bodyPr wrap="square" lIns="0" tIns="0" rIns="0" bIns="0" anchor="t">
            <a:spAutoFit/>
          </a:bodyPr>
          <a:lstStyle/>
          <a:p>
            <a:pPr algn="ctr">
              <a:spcBef>
                <a:spcPts val="0"/>
              </a:spcBef>
              <a:spcAft>
                <a:spcPts val="0"/>
              </a:spcAft>
            </a:pPr>
            <a:r>
              <a:rPr sz="869" b="1" i="0" dirty="0">
                <a:solidFill>
                  <a:srgbClr val="5C5951"/>
                </a:solidFill>
                <a:latin typeface="Georgia"/>
              </a:rPr>
              <a:t>M. Tanveer</a:t>
            </a:r>
          </a:p>
        </p:txBody>
      </p:sp>
      <p:sp>
        <p:nvSpPr>
          <p:cNvPr id="32" name="TextBox 31"/>
          <p:cNvSpPr txBox="1"/>
          <p:nvPr/>
        </p:nvSpPr>
        <p:spPr>
          <a:xfrm>
            <a:off x="3529584" y="6729983"/>
            <a:ext cx="1078992" cy="521207"/>
          </a:xfrm>
          <a:prstGeom prst="rect">
            <a:avLst/>
          </a:prstGeom>
          <a:noFill/>
        </p:spPr>
        <p:txBody>
          <a:bodyPr wrap="square" lIns="0" tIns="0" rIns="0" bIns="0" anchor="t">
            <a:spAutoFit/>
          </a:bodyPr>
          <a:lstStyle/>
          <a:p>
            <a:pPr algn="ctr">
              <a:spcBef>
                <a:spcPts val="0"/>
              </a:spcBef>
              <a:spcAft>
                <a:spcPts val="0"/>
              </a:spcAft>
            </a:pPr>
            <a:r>
              <a:rPr sz="840" b="0" i="0" dirty="0">
                <a:solidFill>
                  <a:srgbClr val="5C5951"/>
                </a:solidFill>
                <a:latin typeface="Georgia"/>
              </a:rPr>
              <a:t>Professor</a:t>
            </a:r>
          </a:p>
          <a:p>
            <a:pPr algn="ctr">
              <a:spcBef>
                <a:spcPts val="0"/>
              </a:spcBef>
              <a:spcAft>
                <a:spcPts val="0"/>
              </a:spcAft>
            </a:pPr>
            <a:r>
              <a:rPr sz="840" b="0" i="0" dirty="0">
                <a:solidFill>
                  <a:srgbClr val="5C5951"/>
                </a:solidFill>
                <a:latin typeface="Georgia"/>
              </a:rPr>
              <a:t>IIT Indore</a:t>
            </a:r>
          </a:p>
        </p:txBody>
      </p:sp>
      <p:pic>
        <p:nvPicPr>
          <p:cNvPr id="33" name="Picture 32" descr="speaker_5.jpg"/>
          <p:cNvPicPr>
            <a:picLocks noChangeAspect="1"/>
          </p:cNvPicPr>
          <p:nvPr/>
        </p:nvPicPr>
        <p:blipFill>
          <a:blip r:embed="rId7"/>
          <a:stretch>
            <a:fillRect/>
          </a:stretch>
        </p:blipFill>
        <p:spPr>
          <a:xfrm>
            <a:off x="155448" y="7424927"/>
            <a:ext cx="804672" cy="941832"/>
          </a:xfrm>
          <a:prstGeom prst="rect">
            <a:avLst/>
          </a:prstGeom>
        </p:spPr>
      </p:pic>
      <p:sp>
        <p:nvSpPr>
          <p:cNvPr id="34" name="TextBox 33"/>
          <p:cNvSpPr txBox="1"/>
          <p:nvPr/>
        </p:nvSpPr>
        <p:spPr>
          <a:xfrm>
            <a:off x="45720" y="8366759"/>
            <a:ext cx="1078992" cy="274320"/>
          </a:xfrm>
          <a:prstGeom prst="rect">
            <a:avLst/>
          </a:prstGeom>
          <a:noFill/>
        </p:spPr>
        <p:txBody>
          <a:bodyPr wrap="square" lIns="0" tIns="0" rIns="0" bIns="0" anchor="t">
            <a:spAutoFit/>
          </a:bodyPr>
          <a:lstStyle/>
          <a:p>
            <a:pPr algn="ctr">
              <a:spcBef>
                <a:spcPts val="0"/>
              </a:spcBef>
              <a:spcAft>
                <a:spcPts val="0"/>
              </a:spcAft>
            </a:pPr>
            <a:r>
              <a:rPr sz="869" b="1" i="0" dirty="0">
                <a:solidFill>
                  <a:srgbClr val="5C5951"/>
                </a:solidFill>
                <a:latin typeface="Georgia"/>
              </a:rPr>
              <a:t>Apoorva D Patel</a:t>
            </a:r>
          </a:p>
        </p:txBody>
      </p:sp>
      <p:sp>
        <p:nvSpPr>
          <p:cNvPr id="35" name="TextBox 34"/>
          <p:cNvSpPr txBox="1"/>
          <p:nvPr/>
        </p:nvSpPr>
        <p:spPr>
          <a:xfrm>
            <a:off x="45720" y="8622792"/>
            <a:ext cx="1078992" cy="521207"/>
          </a:xfrm>
          <a:prstGeom prst="rect">
            <a:avLst/>
          </a:prstGeom>
          <a:noFill/>
        </p:spPr>
        <p:txBody>
          <a:bodyPr wrap="square" lIns="0" tIns="0" rIns="0" bIns="0" anchor="t">
            <a:spAutoFit/>
          </a:bodyPr>
          <a:lstStyle/>
          <a:p>
            <a:pPr algn="ctr">
              <a:spcBef>
                <a:spcPts val="0"/>
              </a:spcBef>
              <a:spcAft>
                <a:spcPts val="0"/>
              </a:spcAft>
            </a:pPr>
            <a:r>
              <a:rPr sz="840" b="0" i="0">
                <a:solidFill>
                  <a:srgbClr val="5C5951"/>
                </a:solidFill>
                <a:latin typeface="Georgia"/>
              </a:rPr>
              <a:t>Emeritus Professor</a:t>
            </a:r>
          </a:p>
          <a:p>
            <a:pPr algn="ctr">
              <a:spcBef>
                <a:spcPts val="0"/>
              </a:spcBef>
              <a:spcAft>
                <a:spcPts val="0"/>
              </a:spcAft>
            </a:pPr>
            <a:r>
              <a:rPr sz="840" b="0" i="0">
                <a:solidFill>
                  <a:srgbClr val="5C5951"/>
                </a:solidFill>
                <a:latin typeface="Georgia"/>
              </a:rPr>
              <a:t>IISc Bangalore</a:t>
            </a:r>
          </a:p>
        </p:txBody>
      </p:sp>
      <p:pic>
        <p:nvPicPr>
          <p:cNvPr id="36" name="Picture 35" descr="speaker_6.jpg"/>
          <p:cNvPicPr>
            <a:picLocks noChangeAspect="1"/>
          </p:cNvPicPr>
          <p:nvPr/>
        </p:nvPicPr>
        <p:blipFill>
          <a:blip r:embed="rId8"/>
          <a:stretch>
            <a:fillRect/>
          </a:stretch>
        </p:blipFill>
        <p:spPr>
          <a:xfrm>
            <a:off x="1316736" y="7424927"/>
            <a:ext cx="804672" cy="941832"/>
          </a:xfrm>
          <a:prstGeom prst="rect">
            <a:avLst/>
          </a:prstGeom>
        </p:spPr>
      </p:pic>
      <p:sp>
        <p:nvSpPr>
          <p:cNvPr id="37" name="TextBox 36"/>
          <p:cNvSpPr txBox="1"/>
          <p:nvPr/>
        </p:nvSpPr>
        <p:spPr>
          <a:xfrm>
            <a:off x="1207008" y="8366759"/>
            <a:ext cx="1078992" cy="274320"/>
          </a:xfrm>
          <a:prstGeom prst="rect">
            <a:avLst/>
          </a:prstGeom>
          <a:noFill/>
        </p:spPr>
        <p:txBody>
          <a:bodyPr wrap="square" lIns="0" tIns="0" rIns="0" bIns="0" anchor="t">
            <a:spAutoFit/>
          </a:bodyPr>
          <a:lstStyle/>
          <a:p>
            <a:pPr algn="ctr">
              <a:spcBef>
                <a:spcPts val="0"/>
              </a:spcBef>
              <a:spcAft>
                <a:spcPts val="0"/>
              </a:spcAft>
            </a:pPr>
            <a:r>
              <a:rPr sz="869" b="1" i="0">
                <a:solidFill>
                  <a:srgbClr val="5C5951"/>
                </a:solidFill>
                <a:latin typeface="Georgia"/>
              </a:rPr>
              <a:t>Alok Mishra</a:t>
            </a:r>
          </a:p>
        </p:txBody>
      </p:sp>
      <p:sp>
        <p:nvSpPr>
          <p:cNvPr id="38" name="TextBox 37"/>
          <p:cNvSpPr txBox="1"/>
          <p:nvPr/>
        </p:nvSpPr>
        <p:spPr>
          <a:xfrm>
            <a:off x="1207008" y="8622792"/>
            <a:ext cx="1078992" cy="521207"/>
          </a:xfrm>
          <a:prstGeom prst="rect">
            <a:avLst/>
          </a:prstGeom>
          <a:noFill/>
        </p:spPr>
        <p:txBody>
          <a:bodyPr wrap="square" lIns="0" tIns="0" rIns="0" bIns="0" anchor="t">
            <a:spAutoFit/>
          </a:bodyPr>
          <a:lstStyle/>
          <a:p>
            <a:pPr algn="ctr">
              <a:spcBef>
                <a:spcPts val="0"/>
              </a:spcBef>
              <a:spcAft>
                <a:spcPts val="0"/>
              </a:spcAft>
            </a:pPr>
            <a:r>
              <a:rPr sz="840" b="0" i="0">
                <a:solidFill>
                  <a:srgbClr val="5C5951"/>
                </a:solidFill>
                <a:latin typeface="Georgia"/>
              </a:rPr>
              <a:t>Scientist at DRDO</a:t>
            </a:r>
          </a:p>
          <a:p>
            <a:pPr algn="ctr">
              <a:spcBef>
                <a:spcPts val="0"/>
              </a:spcBef>
              <a:spcAft>
                <a:spcPts val="0"/>
              </a:spcAft>
            </a:pPr>
            <a:r>
              <a:rPr sz="840" b="0" i="0">
                <a:solidFill>
                  <a:srgbClr val="5C5951"/>
                </a:solidFill>
                <a:latin typeface="Georgia"/>
              </a:rPr>
              <a:t>Bengaluru</a:t>
            </a:r>
          </a:p>
        </p:txBody>
      </p:sp>
      <p:pic>
        <p:nvPicPr>
          <p:cNvPr id="39" name="Picture 38" descr="speaker_7.jpg"/>
          <p:cNvPicPr>
            <a:picLocks noChangeAspect="1"/>
          </p:cNvPicPr>
          <p:nvPr/>
        </p:nvPicPr>
        <p:blipFill>
          <a:blip r:embed="rId9"/>
          <a:stretch>
            <a:fillRect/>
          </a:stretch>
        </p:blipFill>
        <p:spPr>
          <a:xfrm>
            <a:off x="2468880" y="7424927"/>
            <a:ext cx="804672" cy="941832"/>
          </a:xfrm>
          <a:prstGeom prst="rect">
            <a:avLst/>
          </a:prstGeom>
        </p:spPr>
      </p:pic>
      <p:sp>
        <p:nvSpPr>
          <p:cNvPr id="40" name="TextBox 39"/>
          <p:cNvSpPr txBox="1"/>
          <p:nvPr/>
        </p:nvSpPr>
        <p:spPr>
          <a:xfrm>
            <a:off x="2359152" y="8366759"/>
            <a:ext cx="1078992" cy="274320"/>
          </a:xfrm>
          <a:prstGeom prst="rect">
            <a:avLst/>
          </a:prstGeom>
          <a:noFill/>
        </p:spPr>
        <p:txBody>
          <a:bodyPr wrap="square" lIns="0" tIns="0" rIns="0" bIns="0" anchor="t">
            <a:spAutoFit/>
          </a:bodyPr>
          <a:lstStyle/>
          <a:p>
            <a:pPr algn="ctr">
              <a:spcBef>
                <a:spcPts val="0"/>
              </a:spcBef>
              <a:spcAft>
                <a:spcPts val="0"/>
              </a:spcAft>
            </a:pPr>
            <a:r>
              <a:rPr sz="869" b="1" i="0">
                <a:solidFill>
                  <a:srgbClr val="5C5951"/>
                </a:solidFill>
                <a:latin typeface="Georgia"/>
              </a:rPr>
              <a:t>Shayan Srinivasa</a:t>
            </a:r>
          </a:p>
          <a:p>
            <a:pPr algn="ctr">
              <a:spcBef>
                <a:spcPts val="0"/>
              </a:spcBef>
              <a:spcAft>
                <a:spcPts val="0"/>
              </a:spcAft>
            </a:pPr>
            <a:r>
              <a:rPr sz="869" b="1" i="0">
                <a:solidFill>
                  <a:srgbClr val="5C5951"/>
                </a:solidFill>
                <a:latin typeface="Georgia"/>
              </a:rPr>
              <a:t>Garani</a:t>
            </a:r>
          </a:p>
        </p:txBody>
      </p:sp>
      <p:sp>
        <p:nvSpPr>
          <p:cNvPr id="41" name="TextBox 40"/>
          <p:cNvSpPr txBox="1"/>
          <p:nvPr/>
        </p:nvSpPr>
        <p:spPr>
          <a:xfrm>
            <a:off x="2359152" y="8622792"/>
            <a:ext cx="1078992" cy="521207"/>
          </a:xfrm>
          <a:prstGeom prst="rect">
            <a:avLst/>
          </a:prstGeom>
          <a:noFill/>
        </p:spPr>
        <p:txBody>
          <a:bodyPr wrap="square" lIns="0" tIns="0" rIns="0" bIns="0" anchor="t">
            <a:spAutoFit/>
          </a:bodyPr>
          <a:lstStyle/>
          <a:p>
            <a:pPr algn="ctr">
              <a:spcBef>
                <a:spcPts val="0"/>
              </a:spcBef>
              <a:spcAft>
                <a:spcPts val="0"/>
              </a:spcAft>
            </a:pPr>
            <a:r>
              <a:rPr sz="840" b="0" i="0">
                <a:solidFill>
                  <a:srgbClr val="5C5951"/>
                </a:solidFill>
                <a:latin typeface="Georgia"/>
              </a:rPr>
              <a:t>Professor</a:t>
            </a:r>
          </a:p>
          <a:p>
            <a:pPr algn="ctr">
              <a:spcBef>
                <a:spcPts val="0"/>
              </a:spcBef>
              <a:spcAft>
                <a:spcPts val="0"/>
              </a:spcAft>
            </a:pPr>
            <a:r>
              <a:rPr sz="840" b="0" i="0">
                <a:solidFill>
                  <a:srgbClr val="5C5951"/>
                </a:solidFill>
                <a:latin typeface="Georgia"/>
              </a:rPr>
              <a:t>IISc Bangalore</a:t>
            </a:r>
          </a:p>
        </p:txBody>
      </p:sp>
      <p:pic>
        <p:nvPicPr>
          <p:cNvPr id="42" name="Picture 41" descr="speaker_8.jpg"/>
          <p:cNvPicPr>
            <a:picLocks noChangeAspect="1"/>
          </p:cNvPicPr>
          <p:nvPr/>
        </p:nvPicPr>
        <p:blipFill>
          <a:blip r:embed="rId10"/>
          <a:stretch>
            <a:fillRect/>
          </a:stretch>
        </p:blipFill>
        <p:spPr>
          <a:xfrm>
            <a:off x="3639312" y="7424927"/>
            <a:ext cx="804672" cy="941832"/>
          </a:xfrm>
          <a:prstGeom prst="rect">
            <a:avLst/>
          </a:prstGeom>
        </p:spPr>
      </p:pic>
      <p:sp>
        <p:nvSpPr>
          <p:cNvPr id="43" name="TextBox 42"/>
          <p:cNvSpPr txBox="1"/>
          <p:nvPr/>
        </p:nvSpPr>
        <p:spPr>
          <a:xfrm>
            <a:off x="3529584" y="8366759"/>
            <a:ext cx="1078992" cy="274320"/>
          </a:xfrm>
          <a:prstGeom prst="rect">
            <a:avLst/>
          </a:prstGeom>
          <a:noFill/>
        </p:spPr>
        <p:txBody>
          <a:bodyPr wrap="square" lIns="0" tIns="0" rIns="0" bIns="0" anchor="t">
            <a:spAutoFit/>
          </a:bodyPr>
          <a:lstStyle/>
          <a:p>
            <a:pPr algn="ctr">
              <a:spcBef>
                <a:spcPts val="0"/>
              </a:spcBef>
              <a:spcAft>
                <a:spcPts val="0"/>
              </a:spcAft>
            </a:pPr>
            <a:r>
              <a:rPr sz="869" b="1" i="0">
                <a:solidFill>
                  <a:srgbClr val="5C5951"/>
                </a:solidFill>
                <a:latin typeface="Georgia"/>
              </a:rPr>
              <a:t>Navin Kashyap</a:t>
            </a:r>
          </a:p>
        </p:txBody>
      </p:sp>
      <p:sp>
        <p:nvSpPr>
          <p:cNvPr id="44" name="TextBox 43"/>
          <p:cNvSpPr txBox="1"/>
          <p:nvPr/>
        </p:nvSpPr>
        <p:spPr>
          <a:xfrm>
            <a:off x="3529584" y="8622792"/>
            <a:ext cx="1078992" cy="521207"/>
          </a:xfrm>
          <a:prstGeom prst="rect">
            <a:avLst/>
          </a:prstGeom>
          <a:noFill/>
        </p:spPr>
        <p:txBody>
          <a:bodyPr wrap="square" lIns="0" tIns="0" rIns="0" bIns="0" anchor="t">
            <a:spAutoFit/>
          </a:bodyPr>
          <a:lstStyle/>
          <a:p>
            <a:pPr algn="ctr">
              <a:spcBef>
                <a:spcPts val="0"/>
              </a:spcBef>
              <a:spcAft>
                <a:spcPts val="0"/>
              </a:spcAft>
            </a:pPr>
            <a:r>
              <a:rPr sz="840" b="0" i="0">
                <a:solidFill>
                  <a:srgbClr val="5C5951"/>
                </a:solidFill>
                <a:latin typeface="Georgia"/>
              </a:rPr>
              <a:t>Professor</a:t>
            </a:r>
          </a:p>
          <a:p>
            <a:pPr algn="ctr">
              <a:spcBef>
                <a:spcPts val="0"/>
              </a:spcBef>
              <a:spcAft>
                <a:spcPts val="0"/>
              </a:spcAft>
            </a:pPr>
            <a:r>
              <a:rPr sz="840" b="0" i="0">
                <a:solidFill>
                  <a:srgbClr val="5C5951"/>
                </a:solidFill>
                <a:latin typeface="Georgia"/>
              </a:rPr>
              <a:t>IISc Bangalore</a:t>
            </a:r>
          </a:p>
        </p:txBody>
      </p:sp>
      <p:sp>
        <p:nvSpPr>
          <p:cNvPr id="45" name="TextBox 44"/>
          <p:cNvSpPr txBox="1"/>
          <p:nvPr/>
        </p:nvSpPr>
        <p:spPr>
          <a:xfrm>
            <a:off x="4791456" y="5477256"/>
            <a:ext cx="2478024" cy="1008609"/>
          </a:xfrm>
          <a:prstGeom prst="rect">
            <a:avLst/>
          </a:prstGeom>
          <a:noFill/>
        </p:spPr>
        <p:txBody>
          <a:bodyPr wrap="square" lIns="9144" tIns="9144" rIns="9144" bIns="9144" anchor="t">
            <a:spAutoFit/>
          </a:bodyPr>
          <a:lstStyle/>
          <a:p>
            <a:pPr algn="l">
              <a:spcBef>
                <a:spcPts val="0"/>
              </a:spcBef>
              <a:spcAft>
                <a:spcPts val="0"/>
              </a:spcAft>
            </a:pPr>
            <a:r>
              <a:rPr sz="919" b="0" i="0" dirty="0">
                <a:solidFill>
                  <a:srgbClr val="141414"/>
                </a:solidFill>
                <a:latin typeface="Georgia"/>
              </a:rPr>
              <a:t>◦  </a:t>
            </a:r>
            <a:r>
              <a:rPr lang="en-IN" sz="919" b="0" i="0" dirty="0">
                <a:solidFill>
                  <a:srgbClr val="141414"/>
                </a:solidFill>
                <a:latin typeface="Georgia"/>
              </a:rPr>
              <a:t>Expert Keynote Addresses on emerging quantum technologies</a:t>
            </a:r>
          </a:p>
          <a:p>
            <a:pPr algn="l">
              <a:spcBef>
                <a:spcPts val="0"/>
              </a:spcBef>
              <a:spcAft>
                <a:spcPts val="0"/>
              </a:spcAft>
            </a:pPr>
            <a:r>
              <a:rPr lang="en-IN" sz="919" b="0" i="0" dirty="0">
                <a:solidFill>
                  <a:srgbClr val="141414"/>
                </a:solidFill>
                <a:latin typeface="Georgia"/>
              </a:rPr>
              <a:t>◦  </a:t>
            </a:r>
            <a:r>
              <a:rPr lang="en-US" sz="919" b="0" i="0" dirty="0">
                <a:solidFill>
                  <a:srgbClr val="141414"/>
                </a:solidFill>
                <a:latin typeface="Georgia"/>
              </a:rPr>
              <a:t>Technical Paper Presentations </a:t>
            </a:r>
          </a:p>
          <a:p>
            <a:pPr algn="l">
              <a:spcBef>
                <a:spcPts val="0"/>
              </a:spcBef>
              <a:spcAft>
                <a:spcPts val="0"/>
              </a:spcAft>
            </a:pPr>
            <a:r>
              <a:rPr lang="en-IN" sz="919" b="0" i="0" dirty="0">
                <a:solidFill>
                  <a:srgbClr val="141414"/>
                </a:solidFill>
                <a:latin typeface="Georgia"/>
              </a:rPr>
              <a:t>◦ </a:t>
            </a:r>
            <a:r>
              <a:rPr lang="en-US" sz="919" dirty="0">
                <a:solidFill>
                  <a:srgbClr val="141414"/>
                </a:solidFill>
                <a:latin typeface="Georgia"/>
              </a:rPr>
              <a:t> </a:t>
            </a:r>
            <a:r>
              <a:rPr lang="en-US" sz="919" b="0" i="0" dirty="0">
                <a:solidFill>
                  <a:srgbClr val="141414"/>
                </a:solidFill>
                <a:latin typeface="Georgia"/>
              </a:rPr>
              <a:t>Interactive Expert Talks &amp; Panel Discussions</a:t>
            </a:r>
          </a:p>
          <a:p>
            <a:pPr algn="l">
              <a:spcBef>
                <a:spcPts val="0"/>
              </a:spcBef>
              <a:spcAft>
                <a:spcPts val="0"/>
              </a:spcAft>
            </a:pPr>
            <a:r>
              <a:rPr lang="en-IN" sz="919" b="0" i="0" dirty="0">
                <a:solidFill>
                  <a:srgbClr val="141414"/>
                </a:solidFill>
                <a:latin typeface="Georgia"/>
              </a:rPr>
              <a:t>◦  </a:t>
            </a:r>
            <a:r>
              <a:rPr lang="en-US" sz="919" b="0" i="0" dirty="0">
                <a:solidFill>
                  <a:srgbClr val="141414"/>
                </a:solidFill>
                <a:latin typeface="Georgia"/>
              </a:rPr>
              <a:t>Research, Industry &amp; Academic Networking</a:t>
            </a:r>
            <a:endParaRPr lang="en-IN" sz="919" b="0" i="0" dirty="0">
              <a:solidFill>
                <a:srgbClr val="141414"/>
              </a:solidFill>
              <a:latin typeface="Georgia"/>
            </a:endParaRPr>
          </a:p>
          <a:p>
            <a:pPr algn="l">
              <a:spcBef>
                <a:spcPts val="0"/>
              </a:spcBef>
              <a:spcAft>
                <a:spcPts val="0"/>
              </a:spcAft>
            </a:pPr>
            <a:r>
              <a:rPr sz="919" b="0" i="0" dirty="0">
                <a:solidFill>
                  <a:srgbClr val="141414"/>
                </a:solidFill>
                <a:latin typeface="Georgia"/>
              </a:rPr>
              <a:t>◦  </a:t>
            </a:r>
            <a:r>
              <a:rPr lang="en-IN" sz="919" b="0" i="0" dirty="0">
                <a:solidFill>
                  <a:srgbClr val="141414"/>
                </a:solidFill>
                <a:latin typeface="Georgia"/>
              </a:rPr>
              <a:t>Emerging Applications of Quantum Technologies</a:t>
            </a:r>
            <a:endParaRPr sz="919" b="0" i="0" dirty="0">
              <a:solidFill>
                <a:srgbClr val="141414"/>
              </a:solidFill>
              <a:latin typeface="Georgia"/>
            </a:endParaRPr>
          </a:p>
        </p:txBody>
      </p:sp>
      <p:sp>
        <p:nvSpPr>
          <p:cNvPr id="46" name="Rectangle 45"/>
          <p:cNvSpPr/>
          <p:nvPr/>
        </p:nvSpPr>
        <p:spPr>
          <a:xfrm>
            <a:off x="4709160" y="6547104"/>
            <a:ext cx="2560320" cy="393192"/>
          </a:xfrm>
          <a:prstGeom prst="rect">
            <a:avLst/>
          </a:prstGeom>
          <a:solidFill>
            <a:srgbClr val="235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736592" y="6556248"/>
            <a:ext cx="2505456" cy="356616"/>
          </a:xfrm>
          <a:prstGeom prst="rect">
            <a:avLst/>
          </a:prstGeom>
          <a:noFill/>
        </p:spPr>
        <p:txBody>
          <a:bodyPr wrap="square" lIns="0" tIns="0" rIns="0" bIns="0" anchor="ctr">
            <a:spAutoFit/>
          </a:bodyPr>
          <a:lstStyle/>
          <a:p>
            <a:pPr algn="ctr">
              <a:spcBef>
                <a:spcPts val="0"/>
              </a:spcBef>
              <a:spcAft>
                <a:spcPts val="0"/>
              </a:spcAft>
            </a:pPr>
            <a:r>
              <a:rPr sz="1600" b="1" i="0">
                <a:solidFill>
                  <a:srgbClr val="FFFFFF"/>
                </a:solidFill>
                <a:latin typeface="Georgia"/>
              </a:rPr>
              <a:t>Important Dates</a:t>
            </a:r>
          </a:p>
        </p:txBody>
      </p:sp>
      <p:sp>
        <p:nvSpPr>
          <p:cNvPr id="48" name="TextBox 47"/>
          <p:cNvSpPr txBox="1"/>
          <p:nvPr/>
        </p:nvSpPr>
        <p:spPr>
          <a:xfrm>
            <a:off x="4754880" y="6967728"/>
            <a:ext cx="2468880" cy="935641"/>
          </a:xfrm>
          <a:prstGeom prst="rect">
            <a:avLst/>
          </a:prstGeom>
          <a:noFill/>
        </p:spPr>
        <p:txBody>
          <a:bodyPr wrap="square" lIns="9144" tIns="9144" rIns="9144" bIns="9144" anchor="t">
            <a:spAutoFit/>
          </a:bodyPr>
          <a:lstStyle/>
          <a:p>
            <a:r>
              <a:rPr lang="en-IN" sz="1000" b="1" dirty="0">
                <a:latin typeface="Georgia" panose="02040502050405020303" pitchFamily="18" charset="0"/>
              </a:rPr>
              <a:t>Call for Papers:</a:t>
            </a:r>
          </a:p>
          <a:p>
            <a:r>
              <a:rPr lang="en-US" sz="1000" b="1" dirty="0">
                <a:latin typeface="Georgia" panose="02040502050405020303" pitchFamily="18" charset="0"/>
              </a:rPr>
              <a:t>Last Date for Paper Submission:</a:t>
            </a:r>
          </a:p>
          <a:p>
            <a:r>
              <a:rPr lang="en-IN" sz="1000" b="1" dirty="0">
                <a:latin typeface="Georgia" panose="02040502050405020303" pitchFamily="18" charset="0"/>
              </a:rPr>
              <a:t>Notification of Acceptance:</a:t>
            </a:r>
          </a:p>
          <a:p>
            <a:r>
              <a:rPr lang="en-IN" sz="1000" b="1" dirty="0">
                <a:latin typeface="Georgia" panose="02040502050405020303" pitchFamily="18" charset="0"/>
              </a:rPr>
              <a:t>Early Bird Registration Deadline:</a:t>
            </a:r>
            <a:endParaRPr lang="en-IN" sz="960" b="1" i="0" dirty="0">
              <a:solidFill>
                <a:srgbClr val="141414"/>
              </a:solidFill>
              <a:latin typeface="Georgia" panose="02040502050405020303" pitchFamily="18" charset="0"/>
            </a:endParaRPr>
          </a:p>
          <a:p>
            <a:r>
              <a:rPr lang="en-IN" sz="1000" b="1" dirty="0">
                <a:latin typeface="Georgia" panose="02040502050405020303" pitchFamily="18" charset="0"/>
              </a:rPr>
              <a:t>Final Registration Deadline:20</a:t>
            </a:r>
            <a:r>
              <a:rPr sz="960" b="1" i="0" dirty="0">
                <a:solidFill>
                  <a:srgbClr val="141414"/>
                </a:solidFill>
                <a:latin typeface="Georgia" panose="02040502050405020303" pitchFamily="18" charset="0"/>
              </a:rPr>
              <a:t>2</a:t>
            </a:r>
            <a:r>
              <a:rPr lang="en-IN" sz="960" b="1" i="0" dirty="0">
                <a:solidFill>
                  <a:srgbClr val="141414"/>
                </a:solidFill>
                <a:latin typeface="Georgia" panose="02040502050405020303" pitchFamily="18" charset="0"/>
              </a:rPr>
              <a:t>7</a:t>
            </a:r>
            <a:endParaRPr sz="960" b="1" i="0" dirty="0">
              <a:solidFill>
                <a:srgbClr val="141414"/>
              </a:solidFill>
              <a:latin typeface="Georgia" panose="02040502050405020303" pitchFamily="18" charset="0"/>
            </a:endParaRPr>
          </a:p>
          <a:p>
            <a:pPr algn="l">
              <a:spcBef>
                <a:spcPts val="0"/>
              </a:spcBef>
              <a:spcAft>
                <a:spcPts val="0"/>
              </a:spcAft>
            </a:pPr>
            <a:r>
              <a:rPr lang="en-IN" sz="960" b="1" i="0" dirty="0">
                <a:solidFill>
                  <a:srgbClr val="141414"/>
                </a:solidFill>
                <a:latin typeface="Georgia" panose="02040502050405020303" pitchFamily="18" charset="0"/>
              </a:rPr>
              <a:t>Conference</a:t>
            </a:r>
            <a:r>
              <a:rPr sz="960" b="1" i="0" dirty="0">
                <a:solidFill>
                  <a:srgbClr val="141414"/>
                </a:solidFill>
                <a:latin typeface="Georgia" panose="02040502050405020303" pitchFamily="18" charset="0"/>
              </a:rPr>
              <a:t> Date: </a:t>
            </a:r>
            <a:r>
              <a:rPr lang="en-IN" sz="960" b="1" i="0" dirty="0">
                <a:solidFill>
                  <a:srgbClr val="141414"/>
                </a:solidFill>
                <a:latin typeface="Georgia" panose="02040502050405020303" pitchFamily="18" charset="0"/>
              </a:rPr>
              <a:t>March</a:t>
            </a:r>
            <a:r>
              <a:rPr sz="960" b="1" i="0" dirty="0">
                <a:solidFill>
                  <a:srgbClr val="141414"/>
                </a:solidFill>
                <a:latin typeface="Georgia" panose="02040502050405020303" pitchFamily="18" charset="0"/>
              </a:rPr>
              <a:t> 21–22, 202</a:t>
            </a:r>
            <a:r>
              <a:rPr lang="en-IN" sz="960" b="1" i="0" dirty="0">
                <a:solidFill>
                  <a:srgbClr val="141414"/>
                </a:solidFill>
                <a:latin typeface="Georgia" panose="02040502050405020303" pitchFamily="18" charset="0"/>
              </a:rPr>
              <a:t>7</a:t>
            </a:r>
            <a:endParaRPr sz="960" b="1" i="0" dirty="0">
              <a:solidFill>
                <a:srgbClr val="141414"/>
              </a:solidFill>
              <a:latin typeface="Georgia" panose="02040502050405020303" pitchFamily="18" charset="0"/>
            </a:endParaRPr>
          </a:p>
        </p:txBody>
      </p:sp>
      <p:sp>
        <p:nvSpPr>
          <p:cNvPr id="49" name="Rectangle 48"/>
          <p:cNvSpPr/>
          <p:nvPr/>
        </p:nvSpPr>
        <p:spPr>
          <a:xfrm>
            <a:off x="4709160" y="7882127"/>
            <a:ext cx="2560320" cy="393192"/>
          </a:xfrm>
          <a:prstGeom prst="rect">
            <a:avLst/>
          </a:prstGeom>
          <a:solidFill>
            <a:srgbClr val="235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736592" y="7891272"/>
            <a:ext cx="2505456" cy="356616"/>
          </a:xfrm>
          <a:prstGeom prst="rect">
            <a:avLst/>
          </a:prstGeom>
          <a:noFill/>
        </p:spPr>
        <p:txBody>
          <a:bodyPr wrap="square" lIns="0" tIns="0" rIns="0" bIns="0" anchor="ctr">
            <a:spAutoFit/>
          </a:bodyPr>
          <a:lstStyle/>
          <a:p>
            <a:pPr algn="ctr">
              <a:spcBef>
                <a:spcPts val="0"/>
              </a:spcBef>
              <a:spcAft>
                <a:spcPts val="0"/>
              </a:spcAft>
            </a:pPr>
            <a:r>
              <a:rPr sz="1600" b="1" i="0" dirty="0">
                <a:solidFill>
                  <a:srgbClr val="FFFFFF"/>
                </a:solidFill>
                <a:latin typeface="Georgia"/>
              </a:rPr>
              <a:t>Registration Fees</a:t>
            </a:r>
          </a:p>
        </p:txBody>
      </p:sp>
      <p:sp>
        <p:nvSpPr>
          <p:cNvPr id="51" name="TextBox 50"/>
          <p:cNvSpPr txBox="1"/>
          <p:nvPr/>
        </p:nvSpPr>
        <p:spPr>
          <a:xfrm>
            <a:off x="4754880" y="8321040"/>
            <a:ext cx="2487168" cy="687239"/>
          </a:xfrm>
          <a:prstGeom prst="rect">
            <a:avLst/>
          </a:prstGeom>
          <a:noFill/>
        </p:spPr>
        <p:txBody>
          <a:bodyPr wrap="square" lIns="9144" tIns="9144" rIns="9144" bIns="9144" anchor="t">
            <a:spAutoFit/>
          </a:bodyPr>
          <a:lstStyle/>
          <a:p>
            <a:pPr algn="l">
              <a:spcBef>
                <a:spcPts val="0"/>
              </a:spcBef>
              <a:spcAft>
                <a:spcPts val="0"/>
              </a:spcAft>
            </a:pPr>
            <a:r>
              <a:rPr sz="869" b="0" i="0" dirty="0">
                <a:solidFill>
                  <a:srgbClr val="141414"/>
                </a:solidFill>
                <a:latin typeface="Arial"/>
              </a:rPr>
              <a:t>• BTech/MTech/MS/MSc/PhD: INR </a:t>
            </a:r>
            <a:r>
              <a:rPr lang="en-IN" sz="869" b="0" i="0" dirty="0">
                <a:solidFill>
                  <a:srgbClr val="141414"/>
                </a:solidFill>
                <a:latin typeface="Arial"/>
              </a:rPr>
              <a:t>XYZ</a:t>
            </a:r>
            <a:r>
              <a:rPr sz="869" b="0" i="0" dirty="0">
                <a:solidFill>
                  <a:srgbClr val="141414"/>
                </a:solidFill>
                <a:latin typeface="Arial"/>
              </a:rPr>
              <a:t> + GST</a:t>
            </a:r>
          </a:p>
          <a:p>
            <a:pPr algn="l">
              <a:spcBef>
                <a:spcPts val="0"/>
              </a:spcBef>
              <a:spcAft>
                <a:spcPts val="0"/>
              </a:spcAft>
            </a:pPr>
            <a:r>
              <a:rPr sz="869" b="0" i="0" dirty="0">
                <a:solidFill>
                  <a:srgbClr val="141414"/>
                </a:solidFill>
                <a:latin typeface="Arial"/>
              </a:rPr>
              <a:t>• Post Doc: INR </a:t>
            </a:r>
            <a:r>
              <a:rPr lang="en-IN" sz="869" b="0" i="0" dirty="0">
                <a:solidFill>
                  <a:srgbClr val="141414"/>
                </a:solidFill>
                <a:latin typeface="Arial"/>
              </a:rPr>
              <a:t>XYZ</a:t>
            </a:r>
            <a:r>
              <a:rPr sz="869" b="0" i="0" dirty="0">
                <a:solidFill>
                  <a:srgbClr val="141414"/>
                </a:solidFill>
                <a:latin typeface="Arial"/>
              </a:rPr>
              <a:t> + GST</a:t>
            </a:r>
          </a:p>
          <a:p>
            <a:pPr algn="l">
              <a:spcBef>
                <a:spcPts val="0"/>
              </a:spcBef>
              <a:spcAft>
                <a:spcPts val="0"/>
              </a:spcAft>
            </a:pPr>
            <a:r>
              <a:rPr sz="869" b="0" i="0" dirty="0">
                <a:solidFill>
                  <a:srgbClr val="141414"/>
                </a:solidFill>
                <a:latin typeface="Arial"/>
              </a:rPr>
              <a:t>• Faculty: INR </a:t>
            </a:r>
            <a:r>
              <a:rPr lang="en-IN" sz="869" b="0" i="0" dirty="0">
                <a:solidFill>
                  <a:srgbClr val="141414"/>
                </a:solidFill>
                <a:latin typeface="Arial"/>
              </a:rPr>
              <a:t>XYZ</a:t>
            </a:r>
            <a:r>
              <a:rPr sz="869" b="0" i="0" dirty="0">
                <a:solidFill>
                  <a:srgbClr val="141414"/>
                </a:solidFill>
                <a:latin typeface="Arial"/>
              </a:rPr>
              <a:t> + GST</a:t>
            </a:r>
          </a:p>
          <a:p>
            <a:pPr algn="l">
              <a:spcBef>
                <a:spcPts val="0"/>
              </a:spcBef>
              <a:spcAft>
                <a:spcPts val="0"/>
              </a:spcAft>
            </a:pPr>
            <a:r>
              <a:rPr sz="869" b="0" i="0" dirty="0">
                <a:solidFill>
                  <a:srgbClr val="141414"/>
                </a:solidFill>
                <a:latin typeface="Arial"/>
              </a:rPr>
              <a:t>• Industry: INR </a:t>
            </a:r>
            <a:r>
              <a:rPr lang="en-IN" sz="869" b="0" i="0" dirty="0">
                <a:solidFill>
                  <a:srgbClr val="141414"/>
                </a:solidFill>
                <a:latin typeface="Arial"/>
              </a:rPr>
              <a:t>XYZ</a:t>
            </a:r>
            <a:r>
              <a:rPr sz="869" b="0" i="0" dirty="0">
                <a:solidFill>
                  <a:srgbClr val="141414"/>
                </a:solidFill>
                <a:latin typeface="Arial"/>
              </a:rPr>
              <a:t> + GST</a:t>
            </a:r>
          </a:p>
          <a:p>
            <a:pPr algn="l">
              <a:spcBef>
                <a:spcPts val="0"/>
              </a:spcBef>
              <a:spcAft>
                <a:spcPts val="0"/>
              </a:spcAft>
            </a:pPr>
            <a:r>
              <a:rPr sz="869" b="0" i="0" dirty="0">
                <a:solidFill>
                  <a:srgbClr val="141414"/>
                </a:solidFill>
                <a:latin typeface="Arial"/>
              </a:rPr>
              <a:t>Note: Accommodation (Not included)</a:t>
            </a:r>
          </a:p>
        </p:txBody>
      </p:sp>
      <p:pic>
        <p:nvPicPr>
          <p:cNvPr id="52" name="Picture 51" descr="qr_1.jpg"/>
          <p:cNvPicPr>
            <a:picLocks noChangeAspect="1"/>
          </p:cNvPicPr>
          <p:nvPr/>
        </p:nvPicPr>
        <p:blipFill>
          <a:blip r:embed="rId11"/>
          <a:stretch>
            <a:fillRect/>
          </a:stretch>
        </p:blipFill>
        <p:spPr>
          <a:xfrm>
            <a:off x="4279392" y="9107424"/>
            <a:ext cx="621792" cy="621792"/>
          </a:xfrm>
          <a:prstGeom prst="rect">
            <a:avLst/>
          </a:prstGeom>
        </p:spPr>
      </p:pic>
      <p:pic>
        <p:nvPicPr>
          <p:cNvPr id="53" name="Picture 52" descr="qr_2.jpg"/>
          <p:cNvPicPr>
            <a:picLocks noChangeAspect="1"/>
          </p:cNvPicPr>
          <p:nvPr/>
        </p:nvPicPr>
        <p:blipFill>
          <a:blip r:embed="rId12"/>
          <a:stretch>
            <a:fillRect/>
          </a:stretch>
        </p:blipFill>
        <p:spPr>
          <a:xfrm>
            <a:off x="5330952" y="9107424"/>
            <a:ext cx="621792" cy="621792"/>
          </a:xfrm>
          <a:prstGeom prst="rect">
            <a:avLst/>
          </a:prstGeom>
        </p:spPr>
      </p:pic>
      <p:pic>
        <p:nvPicPr>
          <p:cNvPr id="54" name="Picture 53" descr="qr_3.jpg"/>
          <p:cNvPicPr>
            <a:picLocks noChangeAspect="1"/>
          </p:cNvPicPr>
          <p:nvPr/>
        </p:nvPicPr>
        <p:blipFill>
          <a:blip r:embed="rId13"/>
          <a:stretch>
            <a:fillRect/>
          </a:stretch>
        </p:blipFill>
        <p:spPr>
          <a:xfrm>
            <a:off x="6382512" y="9107424"/>
            <a:ext cx="621792" cy="621792"/>
          </a:xfrm>
          <a:prstGeom prst="rect">
            <a:avLst/>
          </a:prstGeom>
        </p:spPr>
      </p:pic>
      <p:sp>
        <p:nvSpPr>
          <p:cNvPr id="55" name="TextBox 54"/>
          <p:cNvSpPr txBox="1"/>
          <p:nvPr/>
        </p:nvSpPr>
        <p:spPr>
          <a:xfrm>
            <a:off x="4224528" y="8961120"/>
            <a:ext cx="731520" cy="128016"/>
          </a:xfrm>
          <a:prstGeom prst="rect">
            <a:avLst/>
          </a:prstGeom>
          <a:noFill/>
        </p:spPr>
        <p:txBody>
          <a:bodyPr wrap="square" lIns="0" tIns="0" rIns="0" bIns="0" anchor="t">
            <a:spAutoFit/>
          </a:bodyPr>
          <a:lstStyle/>
          <a:p>
            <a:pPr algn="ctr">
              <a:spcBef>
                <a:spcPts val="0"/>
              </a:spcBef>
              <a:spcAft>
                <a:spcPts val="0"/>
              </a:spcAft>
            </a:pPr>
            <a:r>
              <a:rPr sz="680" b="1" i="0">
                <a:solidFill>
                  <a:srgbClr val="235B5E"/>
                </a:solidFill>
                <a:latin typeface="Georgia"/>
              </a:rPr>
              <a:t>Step-1</a:t>
            </a:r>
          </a:p>
        </p:txBody>
      </p:sp>
      <p:sp>
        <p:nvSpPr>
          <p:cNvPr id="56" name="TextBox 55"/>
          <p:cNvSpPr txBox="1"/>
          <p:nvPr/>
        </p:nvSpPr>
        <p:spPr>
          <a:xfrm>
            <a:off x="4224528" y="9729216"/>
            <a:ext cx="749808" cy="201168"/>
          </a:xfrm>
          <a:prstGeom prst="rect">
            <a:avLst/>
          </a:prstGeom>
          <a:noFill/>
        </p:spPr>
        <p:txBody>
          <a:bodyPr wrap="square" lIns="0" tIns="0" rIns="0" bIns="0" anchor="t">
            <a:spAutoFit/>
          </a:bodyPr>
          <a:lstStyle/>
          <a:p>
            <a:pPr algn="ctr">
              <a:spcBef>
                <a:spcPts val="0"/>
              </a:spcBef>
              <a:spcAft>
                <a:spcPts val="0"/>
              </a:spcAft>
            </a:pPr>
            <a:r>
              <a:rPr sz="810" b="1" i="1">
                <a:solidFill>
                  <a:srgbClr val="00008C"/>
                </a:solidFill>
                <a:latin typeface="Georgia"/>
              </a:rPr>
              <a:t>Webpage</a:t>
            </a:r>
          </a:p>
        </p:txBody>
      </p:sp>
      <p:sp>
        <p:nvSpPr>
          <p:cNvPr id="57" name="TextBox 56"/>
          <p:cNvSpPr txBox="1"/>
          <p:nvPr/>
        </p:nvSpPr>
        <p:spPr>
          <a:xfrm>
            <a:off x="5285232" y="8961120"/>
            <a:ext cx="731520" cy="128016"/>
          </a:xfrm>
          <a:prstGeom prst="rect">
            <a:avLst/>
          </a:prstGeom>
          <a:noFill/>
        </p:spPr>
        <p:txBody>
          <a:bodyPr wrap="square" lIns="0" tIns="0" rIns="0" bIns="0" anchor="t">
            <a:spAutoFit/>
          </a:bodyPr>
          <a:lstStyle/>
          <a:p>
            <a:pPr algn="ctr">
              <a:spcBef>
                <a:spcPts val="0"/>
              </a:spcBef>
              <a:spcAft>
                <a:spcPts val="0"/>
              </a:spcAft>
            </a:pPr>
            <a:r>
              <a:rPr sz="680" b="1" i="0">
                <a:solidFill>
                  <a:srgbClr val="235B5E"/>
                </a:solidFill>
                <a:latin typeface="Georgia"/>
              </a:rPr>
              <a:t>Step-2</a:t>
            </a:r>
          </a:p>
        </p:txBody>
      </p:sp>
      <p:sp>
        <p:nvSpPr>
          <p:cNvPr id="58" name="TextBox 57"/>
          <p:cNvSpPr txBox="1"/>
          <p:nvPr/>
        </p:nvSpPr>
        <p:spPr>
          <a:xfrm>
            <a:off x="5285232" y="9729216"/>
            <a:ext cx="749808" cy="201168"/>
          </a:xfrm>
          <a:prstGeom prst="rect">
            <a:avLst/>
          </a:prstGeom>
          <a:noFill/>
        </p:spPr>
        <p:txBody>
          <a:bodyPr wrap="square" lIns="0" tIns="0" rIns="0" bIns="0" anchor="t">
            <a:spAutoFit/>
          </a:bodyPr>
          <a:lstStyle/>
          <a:p>
            <a:pPr algn="ctr">
              <a:spcBef>
                <a:spcPts val="0"/>
              </a:spcBef>
              <a:spcAft>
                <a:spcPts val="0"/>
              </a:spcAft>
            </a:pPr>
            <a:r>
              <a:rPr sz="810" b="1" i="1">
                <a:solidFill>
                  <a:srgbClr val="00008C"/>
                </a:solidFill>
                <a:latin typeface="Georgia"/>
              </a:rPr>
              <a:t>Pay to register</a:t>
            </a:r>
          </a:p>
        </p:txBody>
      </p:sp>
      <p:sp>
        <p:nvSpPr>
          <p:cNvPr id="59" name="TextBox 58"/>
          <p:cNvSpPr txBox="1"/>
          <p:nvPr/>
        </p:nvSpPr>
        <p:spPr>
          <a:xfrm>
            <a:off x="6327648" y="9729216"/>
            <a:ext cx="749808" cy="201168"/>
          </a:xfrm>
          <a:prstGeom prst="rect">
            <a:avLst/>
          </a:prstGeom>
          <a:noFill/>
        </p:spPr>
        <p:txBody>
          <a:bodyPr wrap="square" lIns="0" tIns="0" rIns="0" bIns="0" anchor="t">
            <a:spAutoFit/>
          </a:bodyPr>
          <a:lstStyle/>
          <a:p>
            <a:pPr algn="ctr">
              <a:spcBef>
                <a:spcPts val="0"/>
              </a:spcBef>
              <a:spcAft>
                <a:spcPts val="0"/>
              </a:spcAft>
            </a:pPr>
            <a:r>
              <a:rPr sz="810" b="1" i="1">
                <a:solidFill>
                  <a:srgbClr val="00008C"/>
                </a:solidFill>
                <a:latin typeface="Georgia"/>
              </a:rPr>
              <a:t>Register here</a:t>
            </a:r>
          </a:p>
        </p:txBody>
      </p:sp>
      <p:sp>
        <p:nvSpPr>
          <p:cNvPr id="60" name="Rectangle 59"/>
          <p:cNvSpPr/>
          <p:nvPr/>
        </p:nvSpPr>
        <p:spPr>
          <a:xfrm>
            <a:off x="0" y="9921240"/>
            <a:ext cx="7315200" cy="1051560"/>
          </a:xfrm>
          <a:prstGeom prst="rect">
            <a:avLst/>
          </a:prstGeom>
          <a:solidFill>
            <a:srgbClr val="C2B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Parallelogram 60"/>
          <p:cNvSpPr/>
          <p:nvPr/>
        </p:nvSpPr>
        <p:spPr>
          <a:xfrm>
            <a:off x="4160520" y="9948672"/>
            <a:ext cx="3154680" cy="868680"/>
          </a:xfrm>
          <a:prstGeom prst="parallelogram">
            <a:avLst/>
          </a:prstGeom>
          <a:solidFill>
            <a:srgbClr val="235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36576" y="9912096"/>
            <a:ext cx="1357884" cy="261610"/>
          </a:xfrm>
          <a:prstGeom prst="rect">
            <a:avLst/>
          </a:prstGeom>
          <a:noFill/>
        </p:spPr>
        <p:txBody>
          <a:bodyPr wrap="square" lIns="0" tIns="0" rIns="0" bIns="0" anchor="t">
            <a:spAutoFit/>
          </a:bodyPr>
          <a:lstStyle/>
          <a:p>
            <a:pPr algn="l">
              <a:spcBef>
                <a:spcPts val="0"/>
              </a:spcBef>
              <a:spcAft>
                <a:spcPts val="0"/>
              </a:spcAft>
            </a:pPr>
            <a:r>
              <a:rPr sz="1700" b="1" i="0" dirty="0">
                <a:solidFill>
                  <a:srgbClr val="235B5E"/>
                </a:solidFill>
                <a:latin typeface="Georgia"/>
              </a:rPr>
              <a:t>Organizers:</a:t>
            </a:r>
          </a:p>
        </p:txBody>
      </p:sp>
      <p:sp>
        <p:nvSpPr>
          <p:cNvPr id="63" name="TextBox 62"/>
          <p:cNvSpPr txBox="1"/>
          <p:nvPr/>
        </p:nvSpPr>
        <p:spPr>
          <a:xfrm>
            <a:off x="45720" y="10222992"/>
            <a:ext cx="1225296" cy="685800"/>
          </a:xfrm>
          <a:prstGeom prst="rect">
            <a:avLst/>
          </a:prstGeom>
          <a:noFill/>
        </p:spPr>
        <p:txBody>
          <a:bodyPr wrap="square" lIns="0" tIns="0" rIns="0" bIns="0" anchor="t">
            <a:spAutoFit/>
          </a:bodyPr>
          <a:lstStyle/>
          <a:p>
            <a:pPr algn="l">
              <a:spcBef>
                <a:spcPts val="0"/>
              </a:spcBef>
              <a:spcAft>
                <a:spcPts val="0"/>
              </a:spcAft>
            </a:pPr>
            <a:r>
              <a:rPr sz="1130" b="1" i="0" dirty="0">
                <a:solidFill>
                  <a:srgbClr val="141414"/>
                </a:solidFill>
                <a:latin typeface="Georgia"/>
              </a:rPr>
              <a:t>Convener:</a:t>
            </a:r>
          </a:p>
          <a:p>
            <a:pPr algn="l">
              <a:spcBef>
                <a:spcPts val="0"/>
              </a:spcBef>
              <a:spcAft>
                <a:spcPts val="0"/>
              </a:spcAft>
            </a:pPr>
            <a:r>
              <a:rPr sz="1130" b="1" i="0" dirty="0">
                <a:solidFill>
                  <a:srgbClr val="141414"/>
                </a:solidFill>
                <a:latin typeface="Georgia"/>
              </a:rPr>
              <a:t>Chairperson:</a:t>
            </a:r>
          </a:p>
          <a:p>
            <a:pPr algn="l">
              <a:spcBef>
                <a:spcPts val="0"/>
              </a:spcBef>
              <a:spcAft>
                <a:spcPts val="0"/>
              </a:spcAft>
            </a:pPr>
            <a:r>
              <a:rPr sz="1130" b="1" i="0" dirty="0">
                <a:solidFill>
                  <a:srgbClr val="141414"/>
                </a:solidFill>
                <a:latin typeface="Georgia"/>
              </a:rPr>
              <a:t>Committee</a:t>
            </a:r>
          </a:p>
          <a:p>
            <a:pPr algn="l">
              <a:spcBef>
                <a:spcPts val="0"/>
              </a:spcBef>
              <a:spcAft>
                <a:spcPts val="0"/>
              </a:spcAft>
            </a:pPr>
            <a:r>
              <a:rPr sz="1130" b="1" i="0" dirty="0">
                <a:solidFill>
                  <a:srgbClr val="141414"/>
                </a:solidFill>
                <a:latin typeface="Georgia"/>
              </a:rPr>
              <a:t>Members:</a:t>
            </a:r>
          </a:p>
        </p:txBody>
      </p:sp>
      <p:sp>
        <p:nvSpPr>
          <p:cNvPr id="64" name="TextBox 63"/>
          <p:cNvSpPr txBox="1"/>
          <p:nvPr/>
        </p:nvSpPr>
        <p:spPr>
          <a:xfrm>
            <a:off x="1225296" y="10232134"/>
            <a:ext cx="3291840" cy="480131"/>
          </a:xfrm>
          <a:prstGeom prst="rect">
            <a:avLst/>
          </a:prstGeom>
          <a:noFill/>
        </p:spPr>
        <p:txBody>
          <a:bodyPr wrap="square" lIns="0" tIns="0" rIns="0" bIns="0" anchor="t">
            <a:spAutoFit/>
          </a:bodyPr>
          <a:lstStyle/>
          <a:p>
            <a:pPr algn="l">
              <a:spcBef>
                <a:spcPts val="0"/>
              </a:spcBef>
              <a:spcAft>
                <a:spcPts val="0"/>
              </a:spcAft>
            </a:pPr>
            <a:r>
              <a:rPr sz="1040" b="1" i="0" dirty="0">
                <a:solidFill>
                  <a:srgbClr val="FFFFFF"/>
                </a:solidFill>
                <a:latin typeface="Georgia"/>
              </a:rPr>
              <a:t>Prof. </a:t>
            </a:r>
            <a:r>
              <a:rPr lang="en-IN" sz="1040" b="1" i="0" dirty="0" err="1">
                <a:solidFill>
                  <a:srgbClr val="FFFFFF"/>
                </a:solidFill>
                <a:latin typeface="Georgia"/>
              </a:rPr>
              <a:t>Abhaya</a:t>
            </a:r>
            <a:r>
              <a:rPr lang="en-IN" sz="1040" b="1" i="0" dirty="0">
                <a:solidFill>
                  <a:srgbClr val="FFFFFF"/>
                </a:solidFill>
                <a:latin typeface="Georgia"/>
              </a:rPr>
              <a:t> Singh and </a:t>
            </a:r>
            <a:r>
              <a:rPr lang="en-IN" sz="1040" b="1" i="0" dirty="0" err="1">
                <a:solidFill>
                  <a:srgbClr val="FFFFFF"/>
                </a:solidFill>
                <a:latin typeface="Georgia"/>
              </a:rPr>
              <a:t>Dr.</a:t>
            </a:r>
            <a:r>
              <a:rPr lang="en-IN" sz="1040" b="1" i="0" dirty="0">
                <a:solidFill>
                  <a:srgbClr val="FFFFFF"/>
                </a:solidFill>
                <a:latin typeface="Georgia"/>
              </a:rPr>
              <a:t> Buddha Singh</a:t>
            </a:r>
            <a:endParaRPr sz="1040" b="1" i="0" dirty="0">
              <a:solidFill>
                <a:srgbClr val="FFFFFF"/>
              </a:solidFill>
              <a:latin typeface="Georgia"/>
            </a:endParaRPr>
          </a:p>
          <a:p>
            <a:pPr algn="l">
              <a:spcBef>
                <a:spcPts val="0"/>
              </a:spcBef>
              <a:spcAft>
                <a:spcPts val="0"/>
              </a:spcAft>
            </a:pPr>
            <a:r>
              <a:rPr sz="1040" b="1" i="0" dirty="0">
                <a:solidFill>
                  <a:srgbClr val="FFFFFF"/>
                </a:solidFill>
                <a:latin typeface="Georgia"/>
              </a:rPr>
              <a:t>Prof. </a:t>
            </a:r>
            <a:r>
              <a:rPr lang="en-IN" sz="1040" b="1" i="0" dirty="0">
                <a:solidFill>
                  <a:srgbClr val="FFFFFF"/>
                </a:solidFill>
                <a:latin typeface="Georgia"/>
              </a:rPr>
              <a:t>Satish Chand</a:t>
            </a:r>
            <a:r>
              <a:rPr sz="1040" b="1" i="0" dirty="0">
                <a:solidFill>
                  <a:srgbClr val="FFFFFF"/>
                </a:solidFill>
                <a:latin typeface="Georgia"/>
              </a:rPr>
              <a:t> </a:t>
            </a:r>
          </a:p>
          <a:p>
            <a:pPr algn="l">
              <a:spcBef>
                <a:spcPts val="0"/>
              </a:spcBef>
              <a:spcAft>
                <a:spcPts val="0"/>
              </a:spcAft>
            </a:pPr>
            <a:r>
              <a:rPr lang="en-IN" sz="1040" b="1" dirty="0" err="1">
                <a:solidFill>
                  <a:srgbClr val="FFFFFF"/>
                </a:solidFill>
                <a:latin typeface="Georgia"/>
              </a:rPr>
              <a:t>Dr.</a:t>
            </a:r>
            <a:r>
              <a:rPr lang="en-IN" sz="1040" b="1" dirty="0">
                <a:solidFill>
                  <a:srgbClr val="FFFFFF"/>
                </a:solidFill>
                <a:latin typeface="Georgia"/>
              </a:rPr>
              <a:t> </a:t>
            </a:r>
            <a:r>
              <a:rPr lang="en-IN" sz="1040" b="1" dirty="0" err="1">
                <a:solidFill>
                  <a:srgbClr val="FFFFFF"/>
                </a:solidFill>
                <a:latin typeface="Georgia"/>
              </a:rPr>
              <a:t>Pushpendra</a:t>
            </a:r>
            <a:r>
              <a:rPr lang="en-IN" sz="1040" b="1" dirty="0">
                <a:solidFill>
                  <a:srgbClr val="FFFFFF"/>
                </a:solidFill>
                <a:latin typeface="Georgia"/>
              </a:rPr>
              <a:t> Singh, </a:t>
            </a:r>
            <a:r>
              <a:rPr lang="en-IN" sz="1040" b="1" i="0" dirty="0" err="1">
                <a:solidFill>
                  <a:srgbClr val="FFFFFF"/>
                </a:solidFill>
                <a:latin typeface="Georgia"/>
              </a:rPr>
              <a:t>Dr.</a:t>
            </a:r>
            <a:r>
              <a:rPr lang="en-IN" sz="1040" b="1" i="0" dirty="0">
                <a:solidFill>
                  <a:srgbClr val="FFFFFF"/>
                </a:solidFill>
                <a:latin typeface="Georgia"/>
              </a:rPr>
              <a:t> </a:t>
            </a:r>
            <a:r>
              <a:rPr lang="en-IN" sz="1040" b="1" dirty="0">
                <a:solidFill>
                  <a:srgbClr val="FFFFFF"/>
                </a:solidFill>
                <a:latin typeface="Georgia"/>
              </a:rPr>
              <a:t>Anuj </a:t>
            </a:r>
            <a:r>
              <a:rPr lang="en-IN" sz="1040" b="1" dirty="0" err="1">
                <a:solidFill>
                  <a:srgbClr val="FFFFFF"/>
                </a:solidFill>
                <a:latin typeface="Georgia"/>
              </a:rPr>
              <a:t>Sachan</a:t>
            </a:r>
            <a:endParaRPr sz="1040" b="1" i="0" dirty="0">
              <a:solidFill>
                <a:srgbClr val="FFFFFF"/>
              </a:solidFill>
              <a:latin typeface="Georgia"/>
            </a:endParaRPr>
          </a:p>
        </p:txBody>
      </p:sp>
      <p:sp>
        <p:nvSpPr>
          <p:cNvPr id="65" name="TextBox 64"/>
          <p:cNvSpPr txBox="1"/>
          <p:nvPr/>
        </p:nvSpPr>
        <p:spPr>
          <a:xfrm>
            <a:off x="4645152" y="10151846"/>
            <a:ext cx="2542032" cy="215444"/>
          </a:xfrm>
          <a:prstGeom prst="rect">
            <a:avLst/>
          </a:prstGeom>
          <a:noFill/>
        </p:spPr>
        <p:txBody>
          <a:bodyPr wrap="square" lIns="0" tIns="0" rIns="0" bIns="0" anchor="ctr">
            <a:spAutoFit/>
          </a:bodyPr>
          <a:lstStyle/>
          <a:p>
            <a:pPr algn="ctr">
              <a:spcBef>
                <a:spcPts val="0"/>
              </a:spcBef>
              <a:spcAft>
                <a:spcPts val="0"/>
              </a:spcAft>
            </a:pPr>
            <a:r>
              <a:rPr sz="1400" b="0" i="0" dirty="0">
                <a:solidFill>
                  <a:srgbClr val="FFFFFF"/>
                </a:solidFill>
                <a:latin typeface="Georgia"/>
              </a:rPr>
              <a:t>☎  +91 </a:t>
            </a:r>
            <a:r>
              <a:rPr lang="en-IN" sz="1400" b="0" i="0" dirty="0">
                <a:solidFill>
                  <a:srgbClr val="FFFFFF"/>
                </a:solidFill>
                <a:latin typeface="Georgia"/>
              </a:rPr>
              <a:t>XXXXXXXXXX</a:t>
            </a:r>
            <a:endParaRPr sz="1400" b="0" i="0" dirty="0">
              <a:solidFill>
                <a:srgbClr val="FFFFFF"/>
              </a:solidFill>
              <a:latin typeface="Georgia"/>
            </a:endParaRPr>
          </a:p>
        </p:txBody>
      </p:sp>
      <p:sp>
        <p:nvSpPr>
          <p:cNvPr id="66" name="TextBox 65"/>
          <p:cNvSpPr txBox="1"/>
          <p:nvPr/>
        </p:nvSpPr>
        <p:spPr>
          <a:xfrm>
            <a:off x="4572000" y="10515432"/>
            <a:ext cx="2697480" cy="192360"/>
          </a:xfrm>
          <a:prstGeom prst="rect">
            <a:avLst/>
          </a:prstGeom>
          <a:noFill/>
        </p:spPr>
        <p:txBody>
          <a:bodyPr wrap="square" lIns="0" tIns="0" rIns="0" bIns="0" anchor="ctr">
            <a:spAutoFit/>
          </a:bodyPr>
          <a:lstStyle/>
          <a:p>
            <a:pPr algn="ctr">
              <a:spcBef>
                <a:spcPts val="0"/>
              </a:spcBef>
              <a:spcAft>
                <a:spcPts val="0"/>
              </a:spcAft>
            </a:pPr>
            <a:r>
              <a:rPr sz="1250" b="0" i="0" dirty="0">
                <a:solidFill>
                  <a:srgbClr val="FFFFFF"/>
                </a:solidFill>
                <a:latin typeface="Georgia"/>
              </a:rPr>
              <a:t>✉  </a:t>
            </a:r>
            <a:r>
              <a:rPr lang="en-IN" sz="1250" b="0" i="0" dirty="0">
                <a:solidFill>
                  <a:srgbClr val="FFFFFF"/>
                </a:solidFill>
                <a:latin typeface="Georgia"/>
              </a:rPr>
              <a:t>XYZ</a:t>
            </a:r>
            <a:r>
              <a:rPr sz="1250" b="0" i="0" dirty="0">
                <a:solidFill>
                  <a:srgbClr val="FFFFFF"/>
                </a:solidFill>
                <a:latin typeface="Georgia"/>
              </a:rPr>
              <a:t>@</a:t>
            </a:r>
            <a:r>
              <a:rPr lang="en-IN" sz="1250" b="0" i="0" dirty="0">
                <a:solidFill>
                  <a:srgbClr val="FFFFFF"/>
                </a:solidFill>
                <a:latin typeface="Georgia"/>
              </a:rPr>
              <a:t>XYZ.</a:t>
            </a:r>
            <a:endParaRPr sz="1250" b="0" i="0" dirty="0">
              <a:solidFill>
                <a:srgbClr val="FFFFFF"/>
              </a:solidFill>
              <a:latin typeface="Georgia"/>
            </a:endParaRPr>
          </a:p>
        </p:txBody>
      </p:sp>
      <p:pic>
        <p:nvPicPr>
          <p:cNvPr id="1026" name="Picture 2">
            <a:extLst>
              <a:ext uri="{FF2B5EF4-FFF2-40B4-BE49-F238E27FC236}">
                <a16:creationId xmlns:a16="http://schemas.microsoft.com/office/drawing/2014/main" id="{F597481B-32DE-404A-A906-5908B0AAC0F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8011" y="4571"/>
            <a:ext cx="1228725" cy="914400"/>
          </a:xfrm>
          <a:prstGeom prst="rect">
            <a:avLst/>
          </a:prstGeom>
          <a:noFill/>
          <a:extLst>
            <a:ext uri="{909E8E84-426E-40DD-AFC4-6F175D3DCCD1}">
              <a14:hiddenFill xmlns:a14="http://schemas.microsoft.com/office/drawing/2010/main">
                <a:solidFill>
                  <a:srgbClr val="FFFFFF"/>
                </a:solidFill>
              </a14:hiddenFill>
            </a:ext>
          </a:extLst>
        </p:spPr>
      </p:pic>
      <p:pic>
        <p:nvPicPr>
          <p:cNvPr id="69" name="Graphic 68">
            <a:extLst>
              <a:ext uri="{FF2B5EF4-FFF2-40B4-BE49-F238E27FC236}">
                <a16:creationId xmlns:a16="http://schemas.microsoft.com/office/drawing/2014/main" id="{35B215DD-43EE-4B1C-B83A-6718F448D83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2296" y="933170"/>
            <a:ext cx="1188720" cy="89563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TotalTime>
  <Words>485</Words>
  <Application>Microsoft Office PowerPoint</Application>
  <PresentationFormat>Custom</PresentationFormat>
  <Paragraphs>74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Georgia</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DrAnuj</cp:lastModifiedBy>
  <cp:revision>4</cp:revision>
  <dcterms:created xsi:type="dcterms:W3CDTF">2013-01-27T09:14:16Z</dcterms:created>
  <dcterms:modified xsi:type="dcterms:W3CDTF">2026-10-10T07:22:25Z</dcterms:modified>
  <cp:category/>
</cp:coreProperties>
</file>